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60" r:id="rId5"/>
    <p:sldId id="262" r:id="rId6"/>
    <p:sldId id="264" r:id="rId7"/>
    <p:sldId id="263" r:id="rId8"/>
    <p:sldId id="261" r:id="rId9"/>
    <p:sldId id="265" r:id="rId10"/>
  </p:sldIdLst>
  <p:sldSz cx="12192000" cy="6858000"/>
  <p:notesSz cx="7104063" cy="102346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04" autoAdjust="0"/>
  </p:normalViewPr>
  <p:slideViewPr>
    <p:cSldViewPr snapToGrid="0">
      <p:cViewPr varScale="1">
        <p:scale>
          <a:sx n="151" d="100"/>
          <a:sy n="151" d="100"/>
        </p:scale>
        <p:origin x="7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B440F-E05B-F6FD-F9EE-F2AF7A641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C9B7FB-5253-48B4-74A8-45FF470F3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DFE5D9-FB4E-9B08-3355-421B2785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2D50-2609-4FA7-9AB0-C694395E3D5A}" type="datetimeFigureOut">
              <a:rPr lang="ru-RU" smtClean="0"/>
              <a:t>02.02.2025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3CBF7-EC7B-83A9-8B7A-5813F26D0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77A128-BE2F-92DE-6876-01EC4D5D4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3DFF7-B398-4421-B297-2FD485855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578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72D63E-05B4-4553-A27F-1E4D6401D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8A7551-EAF4-15E3-2439-3FC743008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5B8A48-4CF9-50AE-4AB2-9265BAF9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2D50-2609-4FA7-9AB0-C694395E3D5A}" type="datetimeFigureOut">
              <a:rPr lang="ru-RU" smtClean="0"/>
              <a:t>02.02.2025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FC3B4B-3EBE-F5B3-A68B-3CF07F07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E95322-FAC4-FCE7-A763-D886AFDA7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3DFF7-B398-4421-B297-2FD485855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8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A8199-6704-86CB-541F-BC8661AB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0B07F2-8E94-7966-5FBE-8B84CBA52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A9FC20-9BEF-6876-7F4E-BCC3D93C9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2D50-2609-4FA7-9AB0-C694395E3D5A}" type="datetimeFigureOut">
              <a:rPr lang="ru-RU" smtClean="0"/>
              <a:t>02.02.2025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E25F24-D352-9474-A7D6-0A2DFA89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E7F7F6-9B3C-2B56-9FFE-AE8395121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3DFF7-B398-4421-B297-2FD485855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549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A44DF-7974-8124-1607-00726C11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4EA021-A445-D41C-607F-B9DEDFF4E3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8F55CF-13C2-8585-C029-9B9716A48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199D79-845F-73CC-0DE3-9C3C16F83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2D50-2609-4FA7-9AB0-C694395E3D5A}" type="datetimeFigureOut">
              <a:rPr lang="ru-RU" smtClean="0"/>
              <a:t>02.02.2025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984E39-1FE7-9A54-B269-96BF95EBB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193D72-5231-0DE6-EB7C-28E656AE4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3DFF7-B398-4421-B297-2FD485855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466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7A065-E957-04A3-17D3-FEB8FD6C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44D04B-0214-18A3-B5E9-534B51339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33FEF1-A73D-8CEB-883D-C8EB2D386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F1BA1E0-D14F-7264-0171-E0875A87A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91DFBFB-0A63-7A44-0029-C9A013E40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0B1096B-CC65-2B26-C4E3-1FCCF4B2B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2D50-2609-4FA7-9AB0-C694395E3D5A}" type="datetimeFigureOut">
              <a:rPr lang="ru-RU" smtClean="0"/>
              <a:t>02.02.2025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DFD1B80-D70C-C8E5-B501-0A553CFA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27BC529-659C-1C08-9E58-EC20E9CAD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3DFF7-B398-4421-B297-2FD485855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890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E006E-0605-6A7D-0A26-45FA52471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CF7489-12D3-D10A-66DE-673B69FA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2D50-2609-4FA7-9AB0-C694395E3D5A}" type="datetimeFigureOut">
              <a:rPr lang="ru-RU" smtClean="0"/>
              <a:t>02.02.2025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A32D3EB-2E6E-09F8-B918-BEEDEF0C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28218D-5A4A-9DBF-5023-8E1040E76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3DFF7-B398-4421-B297-2FD485855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491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FFADB8C-9A36-5951-EF10-8638B21AA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2D50-2609-4FA7-9AB0-C694395E3D5A}" type="datetimeFigureOut">
              <a:rPr lang="ru-RU" smtClean="0"/>
              <a:t>02.02.2025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72C994-7770-5165-A595-990E54610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36867E-E569-9A47-177D-7797B99DB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3DFF7-B398-4421-B297-2FD485855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59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AE20A2-B163-E806-B75B-460649928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405DD8-9343-927C-4439-0E23A2888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FDB91B-3807-D932-0215-57A8B8F68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A8A385-2BEA-FFA5-AE08-3197F9CE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2D50-2609-4FA7-9AB0-C694395E3D5A}" type="datetimeFigureOut">
              <a:rPr lang="ru-RU" smtClean="0"/>
              <a:t>02.02.2025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332E1C-9A8A-FA83-EF17-1D49080E3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366536-C3B6-79BB-76B9-34D75BDD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3DFF7-B398-4421-B297-2FD485855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520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1329C-1B75-F1BF-78CE-CA8A8B905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E94611-BF5C-ADC6-BC0E-9A65A22256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7CE1AE-BE38-2EB4-4A1A-A0F89DDA1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27D0F7-F9C8-8002-FC92-021A2C01A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2D50-2609-4FA7-9AB0-C694395E3D5A}" type="datetimeFigureOut">
              <a:rPr lang="ru-RU" smtClean="0"/>
              <a:t>02.02.2025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87798A-E1EC-C696-28D4-472C89A2A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DD53B9-EB7D-C949-BDCC-3C4483623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3DFF7-B398-4421-B297-2FD485855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234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A74A38-F81B-157C-AC9D-80E09BD4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C57E41-3488-98E0-EB36-5EE6097E8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9AC7B1-F19F-3866-99B1-A835F585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2D50-2609-4FA7-9AB0-C694395E3D5A}" type="datetimeFigureOut">
              <a:rPr lang="ru-RU" smtClean="0"/>
              <a:t>02.02.2025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FCE697-F5E6-693D-76C9-CCC55ED4B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847BC5-3AD0-1AE6-2BF7-836517DD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3DFF7-B398-4421-B297-2FD485855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426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593291D-4461-B923-C82F-B6EBD5A9D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B86711-2307-B67C-1A30-682DFDC8D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E83E4A-1A3B-ABC3-10DC-E31F5AEF3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2D50-2609-4FA7-9AB0-C694395E3D5A}" type="datetimeFigureOut">
              <a:rPr lang="ru-RU" smtClean="0"/>
              <a:t>02.02.2025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EF86BA-3C2D-5442-31AF-A80AFAB04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685694-3EE4-FCA8-B9D6-BF2FD001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3DFF7-B398-4421-B297-2FD485855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657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C22B13-E020-D9F7-2D41-7EA5A83F7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E48EDB-2C3F-39F2-961A-AD7C37851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E2FCE9-02E2-B99F-A85F-FB8DC987C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52D50-2609-4FA7-9AB0-C694395E3D5A}" type="datetimeFigureOut">
              <a:rPr lang="ru-RU" smtClean="0"/>
              <a:t>02.02.2025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1196EE-4466-FA7E-23C6-7FE56CA6B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E2A671-8106-AEB5-0448-D1A00EFF8E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63DFF7-B398-4421-B297-2FD485855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05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TrofimovAV@nornik.ru" TargetMode="External"/><Relationship Id="rId4" Type="http://schemas.openxmlformats.org/officeDocument/2006/relationships/hyperlink" Target="mailto:UrazbaevTR@ingortech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Шрифт, Графика, графический дизайн, снимок экрана">
            <a:extLst>
              <a:ext uri="{FF2B5EF4-FFF2-40B4-BE49-F238E27FC236}">
                <a16:creationId xmlns:a16="http://schemas.microsoft.com/office/drawing/2014/main" id="{D7A6E748-2FCE-4321-9BE5-44508F88A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563" y="510286"/>
            <a:ext cx="2560915" cy="458709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3A07D0F1-4FAA-9DDE-79ED-C4403E5CC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921" y="272534"/>
            <a:ext cx="3128779" cy="9342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109F7D-104F-220C-7652-B51E8CF31866}"/>
              </a:ext>
            </a:extLst>
          </p:cNvPr>
          <p:cNvSpPr txBox="1"/>
          <p:nvPr/>
        </p:nvSpPr>
        <p:spPr>
          <a:xfrm>
            <a:off x="1892062" y="5332051"/>
            <a:ext cx="8407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latin typeface="Rubik SemiBold" pitchFamily="2" charset="-79"/>
                <a:cs typeface="Rubik SemiBold" pitchFamily="2" charset="-79"/>
              </a:rPr>
              <a:t>Уразбаев Т.Р.</a:t>
            </a:r>
            <a:endParaRPr lang="ru-RU" sz="1200" dirty="0">
              <a:latin typeface="Rubik" pitchFamily="2" charset="-79"/>
              <a:cs typeface="Rubik" pitchFamily="2" charset="-79"/>
            </a:endParaRPr>
          </a:p>
          <a:p>
            <a:r>
              <a:rPr lang="ru-RU" sz="1200" i="1" dirty="0">
                <a:latin typeface="Rubik" pitchFamily="2" charset="-79"/>
                <a:cs typeface="Rubik" pitchFamily="2" charset="-79"/>
              </a:rPr>
              <a:t>Ведущий инженер-геофизик, ООО «ИНГОРТЕХ»</a:t>
            </a:r>
          </a:p>
          <a:p>
            <a:endParaRPr lang="ru-RU" sz="1200" b="1" dirty="0">
              <a:solidFill>
                <a:srgbClr val="0070C0"/>
              </a:solidFill>
              <a:latin typeface="Rubik SemiBold" pitchFamily="2" charset="-79"/>
              <a:cs typeface="Rubik SemiBold" pitchFamily="2" charset="-79"/>
            </a:endParaRPr>
          </a:p>
          <a:p>
            <a:r>
              <a:rPr lang="ru-RU" sz="1200" dirty="0">
                <a:latin typeface="Rubik SemiBold" pitchFamily="2" charset="-79"/>
                <a:cs typeface="Rubik SemiBold" pitchFamily="2" charset="-79"/>
              </a:rPr>
              <a:t>Трофимов А.В.</a:t>
            </a:r>
            <a:endParaRPr lang="ru-RU" sz="1200" dirty="0">
              <a:latin typeface="Rubik" pitchFamily="2" charset="-79"/>
              <a:cs typeface="Rubik" pitchFamily="2" charset="-79"/>
            </a:endParaRPr>
          </a:p>
          <a:p>
            <a:r>
              <a:rPr lang="ru-RU" sz="1200" i="1" dirty="0">
                <a:latin typeface="Rubik" pitchFamily="2" charset="-79"/>
                <a:cs typeface="Rubik" pitchFamily="2" charset="-79"/>
              </a:rPr>
              <a:t>к.т.н., Заместитель директора департамента по исследованиям и разработкам, ООО «Институт Гипроникель»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A64F12-C55D-11A5-2005-EA41F5E66713}"/>
              </a:ext>
            </a:extLst>
          </p:cNvPr>
          <p:cNvSpPr txBox="1"/>
          <p:nvPr/>
        </p:nvSpPr>
        <p:spPr>
          <a:xfrm>
            <a:off x="2552699" y="2170062"/>
            <a:ext cx="7086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70C0"/>
                </a:solidFill>
                <a:latin typeface="Proxima Nova" panose="02000506030000020004" pitchFamily="50" charset="0"/>
              </a:rPr>
              <a:t>Прогнозирование участков концентрации напряжений в массиве горных пород по данным скоростей распространения продольных волн в процессе регионального прогноза удароопасности микросейсмическим методом </a:t>
            </a:r>
          </a:p>
        </p:txBody>
      </p:sp>
    </p:spTree>
    <p:extLst>
      <p:ext uri="{BB962C8B-B14F-4D97-AF65-F5344CB8AC3E}">
        <p14:creationId xmlns:p14="http://schemas.microsoft.com/office/powerpoint/2010/main" val="42768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Шрифт, Графика, графический дизайн, снимок экрана">
            <a:extLst>
              <a:ext uri="{FF2B5EF4-FFF2-40B4-BE49-F238E27FC236}">
                <a16:creationId xmlns:a16="http://schemas.microsoft.com/office/drawing/2014/main" id="{D7A6E748-2FCE-4321-9BE5-44508F88A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159" y="467825"/>
            <a:ext cx="2088378" cy="374069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3A07D0F1-4FAA-9DDE-79ED-C4403E5CC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594" y="272532"/>
            <a:ext cx="2560915" cy="7646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65649D-A00F-8A3E-800E-3A0AA841FA33}"/>
              </a:ext>
            </a:extLst>
          </p:cNvPr>
          <p:cNvSpPr txBox="1"/>
          <p:nvPr/>
        </p:nvSpPr>
        <p:spPr>
          <a:xfrm>
            <a:off x="6534561" y="2351710"/>
            <a:ext cx="493395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Rubik Light" pitchFamily="2" charset="-79"/>
                <a:cs typeface="Rubik Light" pitchFamily="2" charset="-79"/>
              </a:rPr>
              <a:t>В процессе эксплуатации горного массива, который подвергается воздействию различных внешних факторов, таких как взрывные работы, бурение и другие технологические процессы, происходит постоянное перераспределение горного напряжения.</a:t>
            </a:r>
          </a:p>
          <a:p>
            <a:endParaRPr lang="ru-RU" sz="1400" dirty="0">
              <a:latin typeface="Rubik Light" pitchFamily="2" charset="-79"/>
              <a:cs typeface="Rubik Light" pitchFamily="2" charset="-79"/>
            </a:endParaRPr>
          </a:p>
          <a:p>
            <a:r>
              <a:rPr lang="ru-RU" sz="1400" dirty="0">
                <a:latin typeface="Rubik Light" pitchFamily="2" charset="-79"/>
                <a:cs typeface="Rubik Light" pitchFamily="2" charset="-79"/>
              </a:rPr>
              <a:t>Это воздействие является одной из главных причин динамических процессов, таких как горные удары, землетрясения и другие сейсмические явления. Поскольку распределение горного напряжения в массиве носит неравномерный характер, прогнозирование его проявлений становится сложной задачей, особенно в условиях постоянных изменений напряженно-деформированного состояния массива.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9CF26B-DC64-26E0-4256-A915DC240E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91" y="214911"/>
            <a:ext cx="4933950" cy="64281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0E2AC7-325E-E98D-124B-4C0FF580FEFF}"/>
              </a:ext>
            </a:extLst>
          </p:cNvPr>
          <p:cNvSpPr txBox="1"/>
          <p:nvPr/>
        </p:nvSpPr>
        <p:spPr>
          <a:xfrm>
            <a:off x="6534559" y="1659332"/>
            <a:ext cx="4933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  <a:latin typeface="Rubik" pitchFamily="2" charset="-79"/>
                <a:cs typeface="Rubik" pitchFamily="2" charset="-79"/>
              </a:rPr>
              <a:t>Краткое описание проблематики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3AFDE-2EC8-EDD1-65AC-9ACCADDE835A}"/>
              </a:ext>
            </a:extLst>
          </p:cNvPr>
          <p:cNvSpPr txBox="1"/>
          <p:nvPr/>
        </p:nvSpPr>
        <p:spPr>
          <a:xfrm>
            <a:off x="6534559" y="6062248"/>
            <a:ext cx="49339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100" b="1" i="1" dirty="0">
                <a:latin typeface="Rubik" pitchFamily="2" charset="-79"/>
                <a:cs typeface="Rubik" pitchFamily="2" charset="-79"/>
              </a:rPr>
              <a:t>Рисунок 1. 	Техногенные взрывы, произведённые</a:t>
            </a:r>
          </a:p>
          <a:p>
            <a:pPr algn="ctr"/>
            <a:r>
              <a:rPr lang="ru-RU" sz="1100" b="1" i="1" dirty="0">
                <a:latin typeface="Rubik" pitchFamily="2" charset="-79"/>
                <a:cs typeface="Rubik" pitchFamily="2" charset="-79"/>
              </a:rPr>
              <a:t>во 2 квартале 2024 года</a:t>
            </a:r>
          </a:p>
        </p:txBody>
      </p:sp>
    </p:spTree>
    <p:extLst>
      <p:ext uri="{BB962C8B-B14F-4D97-AF65-F5344CB8AC3E}">
        <p14:creationId xmlns:p14="http://schemas.microsoft.com/office/powerpoint/2010/main" val="319364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Шрифт, Графика, графический дизайн, снимок экрана">
            <a:extLst>
              <a:ext uri="{FF2B5EF4-FFF2-40B4-BE49-F238E27FC236}">
                <a16:creationId xmlns:a16="http://schemas.microsoft.com/office/drawing/2014/main" id="{D7A6E748-2FCE-4321-9BE5-44508F88A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159" y="467825"/>
            <a:ext cx="2088378" cy="374069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3A07D0F1-4FAA-9DDE-79ED-C4403E5CC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594" y="272532"/>
            <a:ext cx="2560915" cy="7646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65649D-A00F-8A3E-800E-3A0AA841FA33}"/>
              </a:ext>
            </a:extLst>
          </p:cNvPr>
          <p:cNvSpPr txBox="1"/>
          <p:nvPr/>
        </p:nvSpPr>
        <p:spPr>
          <a:xfrm>
            <a:off x="6556632" y="2075700"/>
            <a:ext cx="4933950" cy="3577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latin typeface="Rubik Light" pitchFamily="2" charset="-79"/>
                <a:cs typeface="Rubik Light" pitchFamily="2" charset="-79"/>
              </a:rPr>
              <a:t>Для решения этой задачи, а именно - оперативности определения геодинамической ситуации на руднике, предлагаем использовать зависимость распространения в массиве скорости продольных волн от плотности горного массива, а значит, и от его напряженно-деформированного состояния. В качестве инициатора продольных волн предлагается использовать техногенные промышленные взрывы и крупные </a:t>
            </a:r>
            <a:r>
              <a:rPr lang="ru-RU" sz="1200" dirty="0" err="1">
                <a:latin typeface="Rubik Light" pitchFamily="2" charset="-79"/>
                <a:cs typeface="Rubik Light" pitchFamily="2" charset="-79"/>
              </a:rPr>
              <a:t>сейсмособытия</a:t>
            </a:r>
            <a:r>
              <a:rPr lang="ru-RU" sz="1200" dirty="0">
                <a:latin typeface="Rubik Light" pitchFamily="2" charset="-79"/>
                <a:cs typeface="Rubik Light" pitchFamily="2" charset="-79"/>
              </a:rPr>
              <a:t>, выполняющиеся и происходящие во время отработки рудника.</a:t>
            </a:r>
          </a:p>
          <a:p>
            <a:endParaRPr lang="ru-RU" sz="1200" dirty="0">
              <a:latin typeface="Rubik Light" pitchFamily="2" charset="-79"/>
              <a:cs typeface="Rubik Light" pitchFamily="2" charset="-79"/>
            </a:endParaRPr>
          </a:p>
          <a:p>
            <a:r>
              <a:rPr lang="ru-RU" sz="1200" dirty="0">
                <a:latin typeface="Rubik Light" pitchFamily="2" charset="-79"/>
                <a:cs typeface="Rubik Light" pitchFamily="2" charset="-79"/>
              </a:rPr>
              <a:t>В качестве «индикаторных» направлений отслеживания изменения интервальных скоростей были взяты середины кратчайшего пути между </a:t>
            </a:r>
            <a:r>
              <a:rPr lang="ru-RU" sz="1200" dirty="0" err="1">
                <a:latin typeface="Rubik Light" pitchFamily="2" charset="-79"/>
                <a:cs typeface="Rubik Light" pitchFamily="2" charset="-79"/>
              </a:rPr>
              <a:t>сейсмопавильонами</a:t>
            </a:r>
            <a:r>
              <a:rPr lang="ru-RU" sz="1200" dirty="0">
                <a:latin typeface="Rubik Light" pitchFamily="2" charset="-79"/>
                <a:cs typeface="Rubik Light" pitchFamily="2" charset="-79"/>
              </a:rPr>
              <a:t>. Далее, были отобраны взрывы, которые были зарегистрированы на, как можно, большем количестве </a:t>
            </a:r>
            <a:r>
              <a:rPr lang="ru-RU" sz="1200" dirty="0" err="1">
                <a:latin typeface="Rubik Light" pitchFamily="2" charset="-79"/>
                <a:cs typeface="Rubik Light" pitchFamily="2" charset="-79"/>
              </a:rPr>
              <a:t>сейсмопавильонов</a:t>
            </a:r>
            <a:r>
              <a:rPr lang="ru-RU" sz="1200" dirty="0">
                <a:latin typeface="Rubik Light" pitchFamily="2" charset="-79"/>
                <a:cs typeface="Rubik Light" pitchFamily="2" charset="-79"/>
              </a:rPr>
              <a:t>. Рассчитаны и построены несколько пространственных моделей распределения скоростей продольных волн в массиве для разных временных интервалов, наложены произошедшие в соответствующие периоды </a:t>
            </a:r>
            <a:r>
              <a:rPr lang="ru-RU" sz="1200" dirty="0" err="1">
                <a:latin typeface="Rubik Light" pitchFamily="2" charset="-79"/>
                <a:cs typeface="Rubik Light" pitchFamily="2" charset="-79"/>
              </a:rPr>
              <a:t>сейсмособытия</a:t>
            </a:r>
            <a:r>
              <a:rPr lang="ru-RU" sz="1200" dirty="0">
                <a:latin typeface="Rubik Light" pitchFamily="2" charset="-79"/>
                <a:cs typeface="Rubik Light" pitchFamily="2" charset="-79"/>
              </a:rPr>
              <a:t>.</a:t>
            </a:r>
          </a:p>
          <a:p>
            <a:endParaRPr lang="ru-RU" sz="1050" dirty="0">
              <a:latin typeface="Rubik Light" pitchFamily="2" charset="-79"/>
              <a:cs typeface="Rubik Light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3AFDE-2EC8-EDD1-65AC-9ACCADDE835A}"/>
              </a:ext>
            </a:extLst>
          </p:cNvPr>
          <p:cNvSpPr txBox="1"/>
          <p:nvPr/>
        </p:nvSpPr>
        <p:spPr>
          <a:xfrm>
            <a:off x="6516325" y="5930682"/>
            <a:ext cx="49339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100" b="1" i="1" dirty="0">
                <a:latin typeface="Rubik" pitchFamily="2" charset="-79"/>
                <a:cs typeface="Rubik" pitchFamily="2" charset="-79"/>
              </a:rPr>
              <a:t>Рисунок 2. «Индикаторные» точки отслеживания интервальных скоростей продольных волн</a:t>
            </a:r>
          </a:p>
        </p:txBody>
      </p:sp>
      <p:pic>
        <p:nvPicPr>
          <p:cNvPr id="3" name="Рисунок 2" descr="Изображение выглядит как текст, карта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A0ABE7E5-4F07-2065-A61E-A089E54C4C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18" y="188653"/>
            <a:ext cx="4974259" cy="64806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FFD081-1BC5-0D28-EF46-BC17099C349D}"/>
              </a:ext>
            </a:extLst>
          </p:cNvPr>
          <p:cNvSpPr txBox="1"/>
          <p:nvPr/>
        </p:nvSpPr>
        <p:spPr>
          <a:xfrm>
            <a:off x="6440619" y="1511073"/>
            <a:ext cx="4933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  <a:latin typeface="Rubik" pitchFamily="2" charset="-79"/>
                <a:cs typeface="Rubik" pitchFamily="2" charset="-79"/>
              </a:rPr>
              <a:t>Описание методики</a:t>
            </a:r>
          </a:p>
        </p:txBody>
      </p:sp>
    </p:spTree>
    <p:extLst>
      <p:ext uri="{BB962C8B-B14F-4D97-AF65-F5344CB8AC3E}">
        <p14:creationId xmlns:p14="http://schemas.microsoft.com/office/powerpoint/2010/main" val="4048433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Шрифт, Графика, графический дизайн, снимок экрана">
            <a:extLst>
              <a:ext uri="{FF2B5EF4-FFF2-40B4-BE49-F238E27FC236}">
                <a16:creationId xmlns:a16="http://schemas.microsoft.com/office/drawing/2014/main" id="{D7A6E748-2FCE-4321-9BE5-44508F88A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159" y="467825"/>
            <a:ext cx="2088378" cy="374069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3A07D0F1-4FAA-9DDE-79ED-C4403E5CC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594" y="272532"/>
            <a:ext cx="2560915" cy="7646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65649D-A00F-8A3E-800E-3A0AA841FA33}"/>
              </a:ext>
            </a:extLst>
          </p:cNvPr>
          <p:cNvSpPr txBox="1"/>
          <p:nvPr/>
        </p:nvSpPr>
        <p:spPr>
          <a:xfrm>
            <a:off x="6547562" y="2582568"/>
            <a:ext cx="49339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Rubik Light" pitchFamily="2" charset="-79"/>
                <a:cs typeface="Rubik Light" pitchFamily="2" charset="-79"/>
              </a:rPr>
              <a:t>На рисунке 2 представлена пространственная модель распространения скорости продольных волн, рассчитанная по взрыву, произошедшему 7 апреля 2023 года.</a:t>
            </a:r>
          </a:p>
          <a:p>
            <a:endParaRPr lang="ru-RU" sz="1400" dirty="0">
              <a:latin typeface="Rubik Light" pitchFamily="2" charset="-79"/>
              <a:cs typeface="Rubik Light" pitchFamily="2" charset="-79"/>
            </a:endParaRPr>
          </a:p>
          <a:p>
            <a:r>
              <a:rPr lang="ru-RU" sz="1400" dirty="0">
                <a:latin typeface="Rubik Light" pitchFamily="2" charset="-79"/>
                <a:cs typeface="Rubik Light" pitchFamily="2" charset="-79"/>
              </a:rPr>
              <a:t>Было отмечено следующее – произошедшие </a:t>
            </a:r>
            <a:r>
              <a:rPr lang="ru-RU" sz="1400" dirty="0" err="1">
                <a:latin typeface="Rubik Light" pitchFamily="2" charset="-79"/>
                <a:cs typeface="Rubik Light" pitchFamily="2" charset="-79"/>
              </a:rPr>
              <a:t>сейсмособытия</a:t>
            </a:r>
            <a:r>
              <a:rPr lang="ru-RU" sz="1400" dirty="0">
                <a:latin typeface="Rubik Light" pitchFamily="2" charset="-79"/>
                <a:cs typeface="Rubik Light" pitchFamily="2" charset="-79"/>
              </a:rPr>
              <a:t> практически огибают зону скорости продольных волн от около 6000 метров в секунду. Более крупные </a:t>
            </a:r>
            <a:r>
              <a:rPr lang="ru-RU" sz="1400" dirty="0" err="1">
                <a:latin typeface="Rubik Light" pitchFamily="2" charset="-79"/>
                <a:cs typeface="Rubik Light" pitchFamily="2" charset="-79"/>
              </a:rPr>
              <a:t>сейсмособытия</a:t>
            </a:r>
            <a:r>
              <a:rPr lang="ru-RU" sz="1400" dirty="0">
                <a:latin typeface="Rubik Light" pitchFamily="2" charset="-79"/>
                <a:cs typeface="Rubik Light" pitchFamily="2" charset="-79"/>
              </a:rPr>
              <a:t> (от 1000 Дж), также произошли в зонах более 6000 метров в секунду.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E2AC7-325E-E98D-124B-4C0FF580FEFF}"/>
              </a:ext>
            </a:extLst>
          </p:cNvPr>
          <p:cNvSpPr txBox="1"/>
          <p:nvPr/>
        </p:nvSpPr>
        <p:spPr>
          <a:xfrm>
            <a:off x="6534559" y="1659332"/>
            <a:ext cx="4933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  <a:latin typeface="Rubik" pitchFamily="2" charset="-79"/>
                <a:cs typeface="Rubik" pitchFamily="2" charset="-79"/>
              </a:rPr>
              <a:t>Описание методики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3AFDE-2EC8-EDD1-65AC-9ACCADDE835A}"/>
              </a:ext>
            </a:extLst>
          </p:cNvPr>
          <p:cNvSpPr txBox="1"/>
          <p:nvPr/>
        </p:nvSpPr>
        <p:spPr>
          <a:xfrm>
            <a:off x="6484266" y="5790011"/>
            <a:ext cx="506054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100" b="1" i="1" dirty="0">
                <a:latin typeface="Rubik" pitchFamily="2" charset="-79"/>
                <a:cs typeface="Rubik" pitchFamily="2" charset="-79"/>
              </a:rPr>
              <a:t>Рисунок 3. Рассчитанные интервальные скорости продольных волн от 7 апреля 2023 года.</a:t>
            </a:r>
          </a:p>
          <a:p>
            <a:pPr algn="ctr"/>
            <a:r>
              <a:rPr lang="ru-RU" sz="1100" i="1" dirty="0">
                <a:latin typeface="Rubik" pitchFamily="2" charset="-79"/>
                <a:cs typeface="Rubik" pitchFamily="2" charset="-79"/>
              </a:rPr>
              <a:t>Нанесены произошедшие </a:t>
            </a:r>
            <a:r>
              <a:rPr lang="ru-RU" sz="1100" i="1" dirty="0" err="1">
                <a:latin typeface="Rubik" pitchFamily="2" charset="-79"/>
                <a:cs typeface="Rubik" pitchFamily="2" charset="-79"/>
              </a:rPr>
              <a:t>сейсмособытия</a:t>
            </a:r>
            <a:r>
              <a:rPr lang="ru-RU" sz="1100" i="1" dirty="0">
                <a:latin typeface="Rubik" pitchFamily="2" charset="-79"/>
                <a:cs typeface="Rubik" pitchFamily="2" charset="-79"/>
              </a:rPr>
              <a:t> от 6 до 8 апреля 2023 года. </a:t>
            </a:r>
            <a:endParaRPr lang="ru-RU" sz="1100" b="1" i="1" dirty="0"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92F662C-7B05-1EF4-5315-DBA51CD2F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19" y="272531"/>
            <a:ext cx="5167021" cy="620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48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Шрифт, Графика, графический дизайн, снимок экрана">
            <a:extLst>
              <a:ext uri="{FF2B5EF4-FFF2-40B4-BE49-F238E27FC236}">
                <a16:creationId xmlns:a16="http://schemas.microsoft.com/office/drawing/2014/main" id="{D7A6E748-2FCE-4321-9BE5-44508F88A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159" y="467825"/>
            <a:ext cx="2088378" cy="374069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3A07D0F1-4FAA-9DDE-79ED-C4403E5CC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594" y="272532"/>
            <a:ext cx="2560915" cy="7646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0E2AC7-325E-E98D-124B-4C0FF580FEFF}"/>
              </a:ext>
            </a:extLst>
          </p:cNvPr>
          <p:cNvSpPr txBox="1"/>
          <p:nvPr/>
        </p:nvSpPr>
        <p:spPr>
          <a:xfrm>
            <a:off x="6730359" y="1320892"/>
            <a:ext cx="4933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  <a:latin typeface="Rubik" pitchFamily="2" charset="-79"/>
                <a:cs typeface="Rubik" pitchFamily="2" charset="-79"/>
              </a:rPr>
              <a:t>Практическое применение методики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3AFDE-2EC8-EDD1-65AC-9ACCADDE835A}"/>
              </a:ext>
            </a:extLst>
          </p:cNvPr>
          <p:cNvSpPr txBox="1"/>
          <p:nvPr/>
        </p:nvSpPr>
        <p:spPr>
          <a:xfrm>
            <a:off x="1274310" y="5359469"/>
            <a:ext cx="49339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100" b="1" i="1" dirty="0">
                <a:latin typeface="Rubik" pitchFamily="2" charset="-79"/>
                <a:cs typeface="Rubik" pitchFamily="2" charset="-79"/>
              </a:rPr>
              <a:t>Рисунок 4. Схема взаимосвязи между близости времени расчета прохождения продольных волн между </a:t>
            </a:r>
            <a:r>
              <a:rPr lang="ru-RU" sz="1100" b="1" i="1" dirty="0" err="1">
                <a:latin typeface="Rubik" pitchFamily="2" charset="-79"/>
                <a:cs typeface="Rubik" pitchFamily="2" charset="-79"/>
              </a:rPr>
              <a:t>сейсмопавильонами</a:t>
            </a:r>
            <a:r>
              <a:rPr lang="ru-RU" sz="1100" b="1" i="1" dirty="0">
                <a:latin typeface="Rubik" pitchFamily="2" charset="-79"/>
                <a:cs typeface="Rubik" pitchFamily="2" charset="-79"/>
              </a:rPr>
              <a:t> к времени возникновения </a:t>
            </a:r>
            <a:r>
              <a:rPr lang="ru-RU" sz="1100" b="1" i="1" dirty="0" err="1">
                <a:latin typeface="Rubik" pitchFamily="2" charset="-79"/>
                <a:cs typeface="Rubik" pitchFamily="2" charset="-79"/>
              </a:rPr>
              <a:t>сейсмособытия</a:t>
            </a:r>
            <a:r>
              <a:rPr lang="ru-RU" sz="1100" b="1" i="1" dirty="0">
                <a:latin typeface="Rubik" pitchFamily="2" charset="-79"/>
                <a:cs typeface="Rubik" pitchFamily="2" charset="-79"/>
              </a:rPr>
              <a:t>, и удаленности точки отслеживания к месту проявления </a:t>
            </a:r>
            <a:r>
              <a:rPr lang="ru-RU" sz="1100" b="1" i="1" dirty="0" err="1">
                <a:latin typeface="Rubik" pitchFamily="2" charset="-79"/>
                <a:cs typeface="Rubik" pitchFamily="2" charset="-79"/>
              </a:rPr>
              <a:t>сейсмособытия</a:t>
            </a:r>
            <a:r>
              <a:rPr lang="ru-RU" sz="1100" b="1" i="1" dirty="0">
                <a:latin typeface="Rubik" pitchFamily="2" charset="-79"/>
                <a:cs typeface="Rubik" pitchFamily="2" charset="-79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04CF7-F3D6-0A7B-E5F2-AF265D67BAFD}"/>
              </a:ext>
            </a:extLst>
          </p:cNvPr>
          <p:cNvSpPr txBox="1"/>
          <p:nvPr/>
        </p:nvSpPr>
        <p:spPr>
          <a:xfrm>
            <a:off x="7121959" y="1973927"/>
            <a:ext cx="454235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Rubik Light" pitchFamily="2" charset="-79"/>
                <a:cs typeface="Rubik Light" pitchFamily="2" charset="-79"/>
              </a:rPr>
              <a:t>Участок рудника подвергался внешнему воздействию (например, отработка массива, другие факторы), что привело к перераспределению горного напряжения.</a:t>
            </a:r>
          </a:p>
          <a:p>
            <a:endParaRPr lang="ru-RU" sz="1400" dirty="0">
              <a:latin typeface="Rubik Light" pitchFamily="2" charset="-79"/>
              <a:cs typeface="Rubik Light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Rubik Light" pitchFamily="2" charset="-79"/>
                <a:cs typeface="Rubik Light" pitchFamily="2" charset="-79"/>
              </a:rPr>
              <a:t>Напряженные участки горного массива были идентифицированы через отслеживание скоростей продольных волн между </a:t>
            </a:r>
            <a:r>
              <a:rPr lang="ru-RU" sz="1400" dirty="0" err="1">
                <a:latin typeface="Rubik Light" pitchFamily="2" charset="-79"/>
                <a:cs typeface="Rubik Light" pitchFamily="2" charset="-79"/>
              </a:rPr>
              <a:t>сейсмопавильонами</a:t>
            </a:r>
            <a:r>
              <a:rPr lang="ru-RU" sz="1400" dirty="0">
                <a:latin typeface="Rubik Light" pitchFamily="2" charset="-79"/>
                <a:cs typeface="Rubik Light" pitchFamily="2" charset="-79"/>
              </a:rPr>
              <a:t>. В некоторых из этих участков произошли сейсмические события, возможно, в тот момент, когда прочность горных пород была превышена.</a:t>
            </a:r>
          </a:p>
          <a:p>
            <a:endParaRPr lang="ru-RU" sz="1400" dirty="0">
              <a:latin typeface="Rubik Light" pitchFamily="2" charset="-79"/>
              <a:cs typeface="Rubik Light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Rubik Light" pitchFamily="2" charset="-79"/>
                <a:cs typeface="Rubik Light" pitchFamily="2" charset="-79"/>
              </a:rPr>
              <a:t>После сейсмических событий массив горных пород «разгружался», что подтверждается значительным падением скорости прохождения продольных волн.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6D5A8EC-8B07-457C-6A75-B5B25C011F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91" y="1037189"/>
            <a:ext cx="6198295" cy="41913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9100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Шрифт, Графика, графический дизайн, снимок экрана">
            <a:extLst>
              <a:ext uri="{FF2B5EF4-FFF2-40B4-BE49-F238E27FC236}">
                <a16:creationId xmlns:a16="http://schemas.microsoft.com/office/drawing/2014/main" id="{D7A6E748-2FCE-4321-9BE5-44508F88A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159" y="467825"/>
            <a:ext cx="2088378" cy="374069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3A07D0F1-4FAA-9DDE-79ED-C4403E5CC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594" y="272532"/>
            <a:ext cx="2560915" cy="7646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0E2AC7-325E-E98D-124B-4C0FF580FEFF}"/>
              </a:ext>
            </a:extLst>
          </p:cNvPr>
          <p:cNvSpPr txBox="1"/>
          <p:nvPr/>
        </p:nvSpPr>
        <p:spPr>
          <a:xfrm>
            <a:off x="3629025" y="1138118"/>
            <a:ext cx="4933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  <a:latin typeface="Rubik" pitchFamily="2" charset="-79"/>
                <a:cs typeface="Rubik" pitchFamily="2" charset="-79"/>
              </a:rPr>
              <a:t>Практическое применение методики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3AFDE-2EC8-EDD1-65AC-9ACCADDE835A}"/>
              </a:ext>
            </a:extLst>
          </p:cNvPr>
          <p:cNvSpPr txBox="1"/>
          <p:nvPr/>
        </p:nvSpPr>
        <p:spPr>
          <a:xfrm>
            <a:off x="909207" y="5957115"/>
            <a:ext cx="49339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100" b="1" i="1" dirty="0">
                <a:latin typeface="Rubik" pitchFamily="2" charset="-79"/>
                <a:cs typeface="Rubik" pitchFamily="2" charset="-79"/>
              </a:rPr>
              <a:t>Рисунок 5. Исследуемый участок рудника. </a:t>
            </a:r>
            <a:r>
              <a:rPr lang="ru-RU" sz="1100" i="1" dirty="0">
                <a:latin typeface="Rubik" pitchFamily="2" charset="-79"/>
                <a:cs typeface="Rubik" pitchFamily="2" charset="-79"/>
              </a:rPr>
              <a:t>Разрез -955 м.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17E134-17E0-EBE3-B273-10B86839CA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714" y="1803674"/>
            <a:ext cx="5473645" cy="381564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CD8C88-5295-F7E3-C385-A00F1D9DB57B}"/>
              </a:ext>
            </a:extLst>
          </p:cNvPr>
          <p:cNvSpPr txBox="1"/>
          <p:nvPr/>
        </p:nvSpPr>
        <p:spPr>
          <a:xfrm>
            <a:off x="6440618" y="5872476"/>
            <a:ext cx="493395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100" b="1" i="1" dirty="0">
                <a:latin typeface="Rubik" pitchFamily="2" charset="-79"/>
                <a:cs typeface="Rubik" pitchFamily="2" charset="-79"/>
              </a:rPr>
              <a:t>Рисунок 6. Сравнительный график изменения скорости продольных волн между </a:t>
            </a:r>
            <a:r>
              <a:rPr lang="ru-RU" sz="1100" b="1" i="1" dirty="0" err="1">
                <a:latin typeface="Rubik" pitchFamily="2" charset="-79"/>
                <a:cs typeface="Rubik" pitchFamily="2" charset="-79"/>
              </a:rPr>
              <a:t>сейсмопавильонами</a:t>
            </a:r>
            <a:r>
              <a:rPr lang="ru-RU" sz="1100" b="1" i="1" dirty="0">
                <a:latin typeface="Rubik" pitchFamily="2" charset="-79"/>
                <a:cs typeface="Rubik" pitchFamily="2" charset="-79"/>
              </a:rPr>
              <a:t> и произошедшими </a:t>
            </a:r>
            <a:r>
              <a:rPr lang="ru-RU" sz="1100" b="1" i="1" dirty="0" err="1">
                <a:latin typeface="Rubik" pitchFamily="2" charset="-79"/>
                <a:cs typeface="Rubik" pitchFamily="2" charset="-79"/>
              </a:rPr>
              <a:t>сейсмособытиями</a:t>
            </a:r>
            <a:r>
              <a:rPr lang="ru-RU" sz="1100" b="1" i="1" dirty="0">
                <a:latin typeface="Rubik" pitchFamily="2" charset="-79"/>
                <a:cs typeface="Rubik" pitchFamily="2" charset="-79"/>
              </a:rPr>
              <a:t>.</a:t>
            </a:r>
          </a:p>
        </p:txBody>
      </p:sp>
      <p:pic>
        <p:nvPicPr>
          <p:cNvPr id="5" name="Рисунок 4" descr="Изображение выглядит как текст, карта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D149CB53-55C3-F27C-7BA6-0159C90062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24" y="1906722"/>
            <a:ext cx="5603476" cy="371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12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Шрифт, Графика, графический дизайн, снимок экрана">
            <a:extLst>
              <a:ext uri="{FF2B5EF4-FFF2-40B4-BE49-F238E27FC236}">
                <a16:creationId xmlns:a16="http://schemas.microsoft.com/office/drawing/2014/main" id="{D7A6E748-2FCE-4321-9BE5-44508F88A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159" y="467825"/>
            <a:ext cx="2088378" cy="374069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3A07D0F1-4FAA-9DDE-79ED-C4403E5CC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594" y="272532"/>
            <a:ext cx="2560915" cy="7646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65649D-A00F-8A3E-800E-3A0AA841FA33}"/>
              </a:ext>
            </a:extLst>
          </p:cNvPr>
          <p:cNvSpPr txBox="1"/>
          <p:nvPr/>
        </p:nvSpPr>
        <p:spPr>
          <a:xfrm>
            <a:off x="6926159" y="2005963"/>
            <a:ext cx="45423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Rubik Light" pitchFamily="2" charset="-79"/>
                <a:cs typeface="Rubik Light" pitchFamily="2" charset="-79"/>
              </a:rPr>
              <a:t>Для того, чтобы оценить практическую пользу методики прогнозирования участков концентрации напряжений в массиве горных пород, были отобраны 11 наиболее крупных </a:t>
            </a:r>
            <a:r>
              <a:rPr lang="ru-RU" sz="1400" dirty="0" err="1">
                <a:latin typeface="Rubik Light" pitchFamily="2" charset="-79"/>
                <a:cs typeface="Rubik Light" pitchFamily="2" charset="-79"/>
              </a:rPr>
              <a:t>сейсмособытий</a:t>
            </a:r>
            <a:r>
              <a:rPr lang="ru-RU" sz="1400" dirty="0">
                <a:latin typeface="Rubik Light" pitchFamily="2" charset="-79"/>
                <a:cs typeface="Rubik Light" pitchFamily="2" charset="-79"/>
              </a:rPr>
              <a:t>, произошедших за 2024 год на руднике.</a:t>
            </a:r>
          </a:p>
          <a:p>
            <a:endParaRPr lang="ru-RU" sz="1400" dirty="0">
              <a:latin typeface="Rubik Light" pitchFamily="2" charset="-79"/>
              <a:cs typeface="Rubik Light" pitchFamily="2" charset="-79"/>
            </a:endParaRPr>
          </a:p>
          <a:p>
            <a:r>
              <a:rPr lang="ru-RU" sz="1400" dirty="0">
                <a:latin typeface="Rubik Light" pitchFamily="2" charset="-79"/>
                <a:cs typeface="Rubik Light" pitchFamily="2" charset="-79"/>
              </a:rPr>
              <a:t>7 из 11-ти удалось спрогнозировать за день, до их проявления, 4 – не удалось спрогнозировать в связи с острой зависимостью от конфигурации </a:t>
            </a:r>
            <a:r>
              <a:rPr lang="ru-RU" sz="1400" dirty="0" err="1">
                <a:latin typeface="Rubik Light" pitchFamily="2" charset="-79"/>
                <a:cs typeface="Rubik Light" pitchFamily="2" charset="-79"/>
              </a:rPr>
              <a:t>сейсмосети</a:t>
            </a:r>
            <a:r>
              <a:rPr lang="ru-RU" sz="1400" dirty="0">
                <a:latin typeface="Rubik Light" pitchFamily="2" charset="-79"/>
                <a:cs typeface="Rubik Light" pitchFamily="2" charset="-79"/>
              </a:rPr>
              <a:t> и наличия взрывного воздействия достаточной мощности для регистрации наибольшим количеством </a:t>
            </a:r>
            <a:r>
              <a:rPr lang="ru-RU" sz="1400" dirty="0" err="1">
                <a:latin typeface="Rubik Light" pitchFamily="2" charset="-79"/>
                <a:cs typeface="Rubik Light" pitchFamily="2" charset="-79"/>
              </a:rPr>
              <a:t>сейсмопавильонов</a:t>
            </a:r>
            <a:r>
              <a:rPr lang="ru-RU" sz="1400" dirty="0">
                <a:latin typeface="Rubik Light" pitchFamily="2" charset="-79"/>
                <a:cs typeface="Rubik Light" pitchFamily="2" charset="-79"/>
              </a:rPr>
              <a:t>. </a:t>
            </a:r>
          </a:p>
          <a:p>
            <a:endParaRPr lang="ru-RU" sz="1400" dirty="0">
              <a:latin typeface="Rubik Light" pitchFamily="2" charset="-79"/>
              <a:cs typeface="Rubik Light" pitchFamily="2" charset="-79"/>
            </a:endParaRPr>
          </a:p>
          <a:p>
            <a:r>
              <a:rPr lang="ru-RU" sz="1400" dirty="0">
                <a:latin typeface="Rubik Light" pitchFamily="2" charset="-79"/>
                <a:cs typeface="Rubik Light" pitchFamily="2" charset="-79"/>
              </a:rPr>
              <a:t>Таким образом, данная методика может быть использована в качестве дополняющей основные методы регионального прогноза удароопасности микросейсмическим методом.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E2AC7-325E-E98D-124B-4C0FF580FEFF}"/>
              </a:ext>
            </a:extLst>
          </p:cNvPr>
          <p:cNvSpPr txBox="1"/>
          <p:nvPr/>
        </p:nvSpPr>
        <p:spPr>
          <a:xfrm>
            <a:off x="6730359" y="1460735"/>
            <a:ext cx="4933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  <a:latin typeface="Rubik" pitchFamily="2" charset="-79"/>
                <a:cs typeface="Rubik" pitchFamily="2" charset="-79"/>
              </a:rPr>
              <a:t>Практическое применение методики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3AFDE-2EC8-EDD1-65AC-9ACCADDE835A}"/>
              </a:ext>
            </a:extLst>
          </p:cNvPr>
          <p:cNvSpPr txBox="1"/>
          <p:nvPr/>
        </p:nvSpPr>
        <p:spPr>
          <a:xfrm>
            <a:off x="962023" y="5251682"/>
            <a:ext cx="49339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100" b="1" i="1" dirty="0">
                <a:latin typeface="Rubik" pitchFamily="2" charset="-79"/>
                <a:cs typeface="Rubik" pitchFamily="2" charset="-79"/>
              </a:rPr>
              <a:t>Таблица 1. Исследуемые крупные </a:t>
            </a:r>
            <a:r>
              <a:rPr lang="ru-RU" sz="1100" b="1" i="1" dirty="0" err="1">
                <a:latin typeface="Rubik" pitchFamily="2" charset="-79"/>
                <a:cs typeface="Rubik" pitchFamily="2" charset="-79"/>
              </a:rPr>
              <a:t>сейсмособытия</a:t>
            </a:r>
            <a:endParaRPr lang="ru-RU" sz="1100" b="1" i="1" dirty="0">
              <a:latin typeface="Rubik" pitchFamily="2" charset="-79"/>
              <a:cs typeface="Rubik" pitchFamily="2" charset="-79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031279F-6780-E6E5-72E3-14447DDFAC69}"/>
              </a:ext>
            </a:extLst>
          </p:cNvPr>
          <p:cNvGraphicFramePr>
            <a:graphicFrameLocks noGrp="1"/>
          </p:cNvGraphicFramePr>
          <p:nvPr/>
        </p:nvGraphicFramePr>
        <p:xfrm>
          <a:off x="504824" y="1925970"/>
          <a:ext cx="5848350" cy="30060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32672772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4102559532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324955732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394154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2754583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3554801850"/>
                    </a:ext>
                  </a:extLst>
                </a:gridCol>
              </a:tblGrid>
              <a:tr h="9105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Дата и время </a:t>
                      </a:r>
                      <a:r>
                        <a:rPr lang="ru-RU" sz="900" dirty="0" err="1">
                          <a:effectLst/>
                        </a:rPr>
                        <a:t>сейсмособытия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Дата расчета скоростных характеристик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Энергия исследуемого </a:t>
                      </a:r>
                      <a:r>
                        <a:rPr lang="ru-RU" sz="900" dirty="0" err="1">
                          <a:effectLst/>
                        </a:rPr>
                        <a:t>сейсмособытия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Высотная отметка</a:t>
                      </a:r>
                      <a:endParaRPr lang="ru-RU" sz="600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расчета скорости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Высотная отметка сейсмособытия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Скорость</a:t>
                      </a:r>
                      <a:endParaRPr lang="ru-RU" sz="600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в координатах </a:t>
                      </a:r>
                      <a:r>
                        <a:rPr lang="ru-RU" sz="900" dirty="0" err="1">
                          <a:effectLst/>
                        </a:rPr>
                        <a:t>сейсмособытия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40604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13.08.2024 16:01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11.08.2024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244695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ru-RU" sz="900" dirty="0">
                          <a:effectLst/>
                        </a:rPr>
                        <a:t>Дж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-761,5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-723,1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5968,7 м</a:t>
                      </a:r>
                      <a:r>
                        <a:rPr lang="en-US" sz="900" dirty="0">
                          <a:effectLst/>
                        </a:rPr>
                        <a:t>/</a:t>
                      </a:r>
                      <a:r>
                        <a:rPr lang="ru-RU" sz="900" dirty="0">
                          <a:effectLst/>
                        </a:rPr>
                        <a:t>с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37102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11.08.2024 22:44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1</a:t>
                      </a:r>
                      <a:r>
                        <a:rPr lang="en-US" sz="900">
                          <a:effectLst/>
                        </a:rPr>
                        <a:t>0</a:t>
                      </a:r>
                      <a:r>
                        <a:rPr lang="ru-RU" sz="900">
                          <a:effectLst/>
                        </a:rPr>
                        <a:t>.08.24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80366 Дж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-761,5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-559,6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6040 м/с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632496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05.05.2024 22:41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03.05.2024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28415 Дж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-868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-973,2 м  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вне зоны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04870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12.03.2024 17:56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10.03.2024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22570 Дж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-880,2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-880,2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6206 м/с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777579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04.06.2024 11:27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03.06.2024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19619 Дж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-896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-922,2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6093 м/с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33741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21.04.2024 13:24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20.04.2024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16967 Дж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-883,1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-883,1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вне зоны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82687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01.05.2024 10:14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30.04.2024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15109 Дж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-870,1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-870,1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6178 м/с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48739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23.05.2024 20:46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22.05.2024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13691 Дж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-815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-815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вне зоны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62158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24.02.2024 9:20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23.02.2024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11685 Дж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-886,1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-886,1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5856 м/с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27482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29.05.2024 22:24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28.05.2024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11415 Дж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-885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-913,6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вне зоны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60134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30.05.2024 23:48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>
                          <a:effectLst/>
                        </a:rPr>
                        <a:t>29.05.2024</a:t>
                      </a:r>
                      <a:endParaRPr lang="ru-RU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11286 Дж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-868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-941,7 м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900" dirty="0">
                          <a:effectLst/>
                        </a:rPr>
                        <a:t>вне зоны</a:t>
                      </a:r>
                      <a:endParaRPr lang="ru-RU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457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336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Шрифт, Графика, графический дизайн, снимок экрана">
            <a:extLst>
              <a:ext uri="{FF2B5EF4-FFF2-40B4-BE49-F238E27FC236}">
                <a16:creationId xmlns:a16="http://schemas.microsoft.com/office/drawing/2014/main" id="{D7A6E748-2FCE-4321-9BE5-44508F88A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159" y="467825"/>
            <a:ext cx="2088378" cy="374069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3A07D0F1-4FAA-9DDE-79ED-C4403E5CC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594" y="272532"/>
            <a:ext cx="2560915" cy="7646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65649D-A00F-8A3E-800E-3A0AA841FA33}"/>
              </a:ext>
            </a:extLst>
          </p:cNvPr>
          <p:cNvSpPr txBox="1"/>
          <p:nvPr/>
        </p:nvSpPr>
        <p:spPr>
          <a:xfrm>
            <a:off x="6926159" y="1760818"/>
            <a:ext cx="454235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latin typeface="Rubik Light" pitchFamily="2" charset="-79"/>
                <a:cs typeface="Rubik Light" pitchFamily="2" charset="-79"/>
              </a:rPr>
              <a:t>Крупное </a:t>
            </a:r>
            <a:r>
              <a:rPr lang="ru-RU" sz="1100" dirty="0" err="1">
                <a:latin typeface="Rubik Light" pitchFamily="2" charset="-79"/>
                <a:cs typeface="Rubik Light" pitchFamily="2" charset="-79"/>
              </a:rPr>
              <a:t>сейсмособытие</a:t>
            </a:r>
            <a:r>
              <a:rPr lang="ru-RU" sz="1100" dirty="0">
                <a:latin typeface="Rubik Light" pitchFamily="2" charset="-79"/>
                <a:cs typeface="Rubik Light" pitchFamily="2" charset="-79"/>
              </a:rPr>
              <a:t> произошло в пределах прогнозной зоны удароопасности по критерию F, что объясняется его расположением в непосредственной близости от зоны работ, а также предыдущей сейсмоактивностью массива. Также следует учитывать близость тектонического нарушения.</a:t>
            </a:r>
          </a:p>
          <a:p>
            <a:endParaRPr lang="ru-RU" sz="1100" dirty="0">
              <a:latin typeface="Rubik Light" pitchFamily="2" charset="-79"/>
              <a:cs typeface="Rubik Light" pitchFamily="2" charset="-79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latin typeface="Rubik Light" pitchFamily="2" charset="-79"/>
                <a:cs typeface="Rubik Light" pitchFamily="2" charset="-79"/>
              </a:rPr>
              <a:t>Удалось спрогнозировать участок концентрации напряжений в массиве горных пород по данным скоростей распространения продольных волн. Это также обусловлено тем, что </a:t>
            </a:r>
            <a:r>
              <a:rPr lang="ru-RU" sz="1100" dirty="0" err="1">
                <a:latin typeface="Rubik Light" pitchFamily="2" charset="-79"/>
                <a:cs typeface="Rubik Light" pitchFamily="2" charset="-79"/>
              </a:rPr>
              <a:t>сейсмособытие</a:t>
            </a:r>
            <a:r>
              <a:rPr lang="ru-RU" sz="1100" dirty="0">
                <a:latin typeface="Rubik Light" pitchFamily="2" charset="-79"/>
                <a:cs typeface="Rubik Light" pitchFamily="2" charset="-79"/>
              </a:rPr>
              <a:t> произошло в непосредственной близости от точки отслеживания скоростей.</a:t>
            </a:r>
          </a:p>
          <a:p>
            <a:endParaRPr lang="ru-RU" sz="1100" dirty="0">
              <a:latin typeface="Rubik Light" pitchFamily="2" charset="-79"/>
              <a:cs typeface="Rubik Light" pitchFamily="2" charset="-79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err="1">
                <a:latin typeface="Rubik Light" pitchFamily="2" charset="-79"/>
                <a:cs typeface="Rubik Light" pitchFamily="2" charset="-79"/>
              </a:rPr>
              <a:t>Сейсмособытия</a:t>
            </a:r>
            <a:r>
              <a:rPr lang="ru-RU" sz="1100" dirty="0">
                <a:latin typeface="Rubik Light" pitchFamily="2" charset="-79"/>
                <a:cs typeface="Rubik Light" pitchFamily="2" charset="-79"/>
              </a:rPr>
              <a:t> малой энергии, произошедшие в местах с отсутствием сейсмоактивности до 1 мая, не позволили сформировать прогнозную зону по критерию F, в то время как данные о скоростях продольных волн указали на участки концентрации напряжений. Это подтверждает, что использование микросейсмического метода для прогнозирования концентрации напряжений может дополнить информацию о напряженно-деформированном состоянии массива, особенно в случаях малой сейсмической активности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E2AC7-325E-E98D-124B-4C0FF580FEFF}"/>
              </a:ext>
            </a:extLst>
          </p:cNvPr>
          <p:cNvSpPr txBox="1"/>
          <p:nvPr/>
        </p:nvSpPr>
        <p:spPr>
          <a:xfrm>
            <a:off x="6730359" y="1280753"/>
            <a:ext cx="4933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  <a:latin typeface="Rubik" pitchFamily="2" charset="-79"/>
                <a:cs typeface="Rubik" pitchFamily="2" charset="-79"/>
              </a:rPr>
              <a:t>Практическое применение методики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3AFDE-2EC8-EDD1-65AC-9ACCADDE835A}"/>
              </a:ext>
            </a:extLst>
          </p:cNvPr>
          <p:cNvSpPr txBox="1"/>
          <p:nvPr/>
        </p:nvSpPr>
        <p:spPr>
          <a:xfrm>
            <a:off x="6779701" y="5751764"/>
            <a:ext cx="4933951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000" b="1" i="1" dirty="0">
                <a:latin typeface="Rubik" pitchFamily="2" charset="-79"/>
                <a:cs typeface="Rubik" pitchFamily="2" charset="-79"/>
              </a:rPr>
              <a:t>Рисунок 7. Прогнозирование участков концентрации напряжений в массиве горных пород по данным скоростей распространения продольных волн в процессе регионального прогноза удароопасности микросейсмическим методом.</a:t>
            </a:r>
            <a:endParaRPr lang="en-US" sz="1000" b="1" i="1" dirty="0">
              <a:latin typeface="Rubik" pitchFamily="2" charset="-79"/>
              <a:cs typeface="Rubik" pitchFamily="2" charset="-79"/>
            </a:endParaRPr>
          </a:p>
          <a:p>
            <a:pPr algn="ctr"/>
            <a:r>
              <a:rPr lang="ru-RU" sz="1000" i="1" dirty="0">
                <a:latin typeface="Rubik" pitchFamily="2" charset="-79"/>
                <a:cs typeface="Rubik" pitchFamily="2" charset="-79"/>
              </a:rPr>
              <a:t>Крупное </a:t>
            </a:r>
            <a:r>
              <a:rPr lang="ru-RU" sz="1000" i="1" dirty="0" err="1">
                <a:latin typeface="Rubik" pitchFamily="2" charset="-79"/>
                <a:cs typeface="Rubik" pitchFamily="2" charset="-79"/>
              </a:rPr>
              <a:t>сейсмособытие</a:t>
            </a:r>
            <a:r>
              <a:rPr lang="ru-RU" sz="1000" i="1" dirty="0">
                <a:latin typeface="Rubik" pitchFamily="2" charset="-79"/>
                <a:cs typeface="Rubik" pitchFamily="2" charset="-79"/>
              </a:rPr>
              <a:t> от 1 мая 2024 года. </a:t>
            </a:r>
          </a:p>
          <a:p>
            <a:pPr algn="ctr"/>
            <a:r>
              <a:rPr lang="ru-RU" sz="1100" b="1" i="1" dirty="0">
                <a:latin typeface="Proxima Nova Rg" panose="02000506030000020004" pitchFamily="2" charset="0"/>
                <a:cs typeface="Rubik Light" pitchFamily="2" charset="-79"/>
              </a:rPr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02FCC9-A9D9-63E2-738A-3CDD49A2F8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91" y="213683"/>
            <a:ext cx="4933950" cy="64306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1216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Шрифт, Графика, графический дизайн, снимок экрана">
            <a:extLst>
              <a:ext uri="{FF2B5EF4-FFF2-40B4-BE49-F238E27FC236}">
                <a16:creationId xmlns:a16="http://schemas.microsoft.com/office/drawing/2014/main" id="{D7A6E748-2FCE-4321-9BE5-44508F88A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159" y="467825"/>
            <a:ext cx="2088378" cy="374069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3A07D0F1-4FAA-9DDE-79ED-C4403E5CC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594" y="272532"/>
            <a:ext cx="2560915" cy="7646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0E2AC7-325E-E98D-124B-4C0FF580FEFF}"/>
              </a:ext>
            </a:extLst>
          </p:cNvPr>
          <p:cNvSpPr txBox="1"/>
          <p:nvPr/>
        </p:nvSpPr>
        <p:spPr>
          <a:xfrm>
            <a:off x="3629023" y="1560166"/>
            <a:ext cx="4933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  <a:latin typeface="Rubik" pitchFamily="2" charset="-79"/>
                <a:cs typeface="Rubik" pitchFamily="2" charset="-79"/>
              </a:rPr>
              <a:t>Контакты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FBE8-5D09-C7AB-D1FA-7E433A46C186}"/>
              </a:ext>
            </a:extLst>
          </p:cNvPr>
          <p:cNvSpPr txBox="1"/>
          <p:nvPr/>
        </p:nvSpPr>
        <p:spPr>
          <a:xfrm>
            <a:off x="1057153" y="2743289"/>
            <a:ext cx="1007768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70C0"/>
                </a:solidFill>
                <a:latin typeface="Rubik SemiBold" pitchFamily="2" charset="-79"/>
                <a:cs typeface="Rubik SemiBold" pitchFamily="2" charset="-79"/>
              </a:rPr>
              <a:t>Уразбаев Т.Р.</a:t>
            </a:r>
            <a:endParaRPr lang="ru-RU" sz="1600" dirty="0">
              <a:solidFill>
                <a:srgbClr val="0070C0"/>
              </a:solidFill>
              <a:latin typeface="Rubik" pitchFamily="2" charset="-79"/>
              <a:cs typeface="Rubik" pitchFamily="2" charset="-79"/>
            </a:endParaRPr>
          </a:p>
          <a:p>
            <a:r>
              <a:rPr lang="ru-RU" sz="1600" i="1" dirty="0">
                <a:latin typeface="Rubik" pitchFamily="2" charset="-79"/>
                <a:cs typeface="Rubik" pitchFamily="2" charset="-79"/>
              </a:rPr>
              <a:t>Ведущий инженер-геофизик, ООО «ИНГОРТЕХ», г. Екатеринбург</a:t>
            </a:r>
          </a:p>
          <a:p>
            <a:r>
              <a:rPr lang="ru-RU" sz="1600" b="1" dirty="0">
                <a:solidFill>
                  <a:srgbClr val="0070C0"/>
                </a:solidFill>
                <a:latin typeface="Rubik SemiBold" pitchFamily="2" charset="-79"/>
                <a:cs typeface="Rubik SemiBold" pitchFamily="2" charset="-79"/>
                <a:hlinkClick r:id="rId4"/>
              </a:rPr>
              <a:t>UrazbaevTR@ingortech.ru</a:t>
            </a:r>
            <a:endParaRPr lang="ru-RU" sz="1600" b="1" dirty="0">
              <a:solidFill>
                <a:srgbClr val="0070C0"/>
              </a:solidFill>
              <a:latin typeface="Rubik SemiBold" pitchFamily="2" charset="-79"/>
              <a:cs typeface="Rubik SemiBold" pitchFamily="2" charset="-79"/>
            </a:endParaRPr>
          </a:p>
          <a:p>
            <a:r>
              <a:rPr lang="ru-RU" sz="1600" b="1" dirty="0">
                <a:latin typeface="Rubik SemiBold" pitchFamily="2" charset="-79"/>
                <a:cs typeface="Rubik SemiBold" pitchFamily="2" charset="-79"/>
              </a:rPr>
              <a:t>Тел: +7 (999)-566-20-53</a:t>
            </a:r>
          </a:p>
          <a:p>
            <a:endParaRPr lang="ru-RU" sz="1600" b="1" dirty="0">
              <a:solidFill>
                <a:srgbClr val="0070C0"/>
              </a:solidFill>
              <a:latin typeface="Rubik SemiBold" pitchFamily="2" charset="-79"/>
              <a:cs typeface="Rubik SemiBold" pitchFamily="2" charset="-79"/>
            </a:endParaRPr>
          </a:p>
          <a:p>
            <a:endParaRPr lang="ru-RU" sz="1600" b="1" dirty="0">
              <a:solidFill>
                <a:srgbClr val="0070C0"/>
              </a:solidFill>
              <a:latin typeface="Rubik SemiBold" pitchFamily="2" charset="-79"/>
              <a:cs typeface="Rubik SemiBold" pitchFamily="2" charset="-79"/>
            </a:endParaRPr>
          </a:p>
          <a:p>
            <a:r>
              <a:rPr lang="ru-RU" sz="1600" dirty="0">
                <a:solidFill>
                  <a:srgbClr val="0070C0"/>
                </a:solidFill>
                <a:latin typeface="Rubik SemiBold" pitchFamily="2" charset="-79"/>
                <a:cs typeface="Rubik SemiBold" pitchFamily="2" charset="-79"/>
              </a:rPr>
              <a:t>Трофимов А.В.</a:t>
            </a:r>
            <a:r>
              <a:rPr lang="ru-RU" sz="1600" dirty="0">
                <a:solidFill>
                  <a:srgbClr val="0070C0"/>
                </a:solidFill>
                <a:latin typeface="Rubik" pitchFamily="2" charset="-79"/>
                <a:cs typeface="Rubik" pitchFamily="2" charset="-79"/>
              </a:rPr>
              <a:t> </a:t>
            </a:r>
            <a:endParaRPr lang="ru-RU" sz="1600" i="1" dirty="0">
              <a:solidFill>
                <a:srgbClr val="0070C0"/>
              </a:solidFill>
              <a:latin typeface="Rubik" pitchFamily="2" charset="-79"/>
              <a:cs typeface="Rubik" pitchFamily="2" charset="-79"/>
            </a:endParaRPr>
          </a:p>
          <a:p>
            <a:r>
              <a:rPr lang="ru-RU" sz="1600" i="1" dirty="0">
                <a:latin typeface="Rubik" pitchFamily="2" charset="-79"/>
                <a:cs typeface="Rubik" pitchFamily="2" charset="-79"/>
              </a:rPr>
              <a:t>к.т.н., Заместитель директора департамента по исследованиям и разработкам, г. Санкт-Петербург</a:t>
            </a:r>
          </a:p>
          <a:p>
            <a:r>
              <a:rPr lang="ru-RU" sz="1600" dirty="0">
                <a:solidFill>
                  <a:srgbClr val="0070C0"/>
                </a:solidFill>
                <a:latin typeface="Rubik SemiBold" pitchFamily="2" charset="-79"/>
                <a:cs typeface="Rubik SemiBold" pitchFamily="2" charset="-79"/>
                <a:hlinkClick r:id="rId5"/>
              </a:rPr>
              <a:t>TrofimovAV@nornik.ru</a:t>
            </a:r>
            <a:endParaRPr lang="ru-RU" sz="1600" dirty="0">
              <a:solidFill>
                <a:srgbClr val="0070C0"/>
              </a:solidFill>
              <a:latin typeface="Rubik SemiBold" pitchFamily="2" charset="-79"/>
              <a:cs typeface="Rubik SemiBold" pitchFamily="2" charset="-79"/>
            </a:endParaRPr>
          </a:p>
          <a:p>
            <a:r>
              <a:rPr lang="ru-RU" sz="1600" dirty="0">
                <a:latin typeface="Rubik SemiBold" pitchFamily="2" charset="-79"/>
                <a:cs typeface="Rubik SemiBold" pitchFamily="2" charset="-79"/>
              </a:rPr>
              <a:t>Тел: +7 (921)-849-41-11</a:t>
            </a:r>
          </a:p>
        </p:txBody>
      </p:sp>
    </p:spTree>
    <p:extLst>
      <p:ext uri="{BB962C8B-B14F-4D97-AF65-F5344CB8AC3E}">
        <p14:creationId xmlns:p14="http://schemas.microsoft.com/office/powerpoint/2010/main" val="37165613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1012</Words>
  <Application>Microsoft Office PowerPoint</Application>
  <PresentationFormat>Широкоэкранный</PresentationFormat>
  <Paragraphs>134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9" baseType="lpstr">
      <vt:lpstr>Aptos</vt:lpstr>
      <vt:lpstr>Aptos Display</vt:lpstr>
      <vt:lpstr>Arial</vt:lpstr>
      <vt:lpstr>Proxima Nova</vt:lpstr>
      <vt:lpstr>Proxima Nova Rg</vt:lpstr>
      <vt:lpstr>Rubik</vt:lpstr>
      <vt:lpstr>Rubik Light</vt:lpstr>
      <vt:lpstr>Rubik SemiBold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insider</dc:creator>
  <cp:lastModifiedBy>insider</cp:lastModifiedBy>
  <cp:revision>20</cp:revision>
  <cp:lastPrinted>2025-01-27T10:10:24Z</cp:lastPrinted>
  <dcterms:created xsi:type="dcterms:W3CDTF">2025-01-27T06:39:27Z</dcterms:created>
  <dcterms:modified xsi:type="dcterms:W3CDTF">2025-02-02T17:03:55Z</dcterms:modified>
</cp:coreProperties>
</file>