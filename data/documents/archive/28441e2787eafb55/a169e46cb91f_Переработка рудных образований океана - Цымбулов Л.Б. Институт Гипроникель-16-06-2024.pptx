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bookmarkIdSeed="3">
  <p:sldMasterIdLst>
    <p:sldMasterId id="2147483651" r:id="rId1"/>
    <p:sldMasterId id="2147483654" r:id="rId2"/>
  </p:sldMasterIdLst>
  <p:notesMasterIdLst>
    <p:notesMasterId r:id="rId30"/>
  </p:notesMasterIdLst>
  <p:handoutMasterIdLst>
    <p:handoutMasterId r:id="rId31"/>
  </p:handoutMasterIdLst>
  <p:sldIdLst>
    <p:sldId id="2147375313" r:id="rId3"/>
    <p:sldId id="785" r:id="rId4"/>
    <p:sldId id="2147375287" r:id="rId5"/>
    <p:sldId id="2147375297" r:id="rId6"/>
    <p:sldId id="2147375307" r:id="rId7"/>
    <p:sldId id="2147375290" r:id="rId8"/>
    <p:sldId id="2147375288" r:id="rId9"/>
    <p:sldId id="2147375289" r:id="rId10"/>
    <p:sldId id="2147375291" r:id="rId11"/>
    <p:sldId id="2147375293" r:id="rId12"/>
    <p:sldId id="2147375292" r:id="rId13"/>
    <p:sldId id="2147375294" r:id="rId14"/>
    <p:sldId id="2147375295" r:id="rId15"/>
    <p:sldId id="2147375296" r:id="rId16"/>
    <p:sldId id="2147375310" r:id="rId17"/>
    <p:sldId id="2147375300" r:id="rId18"/>
    <p:sldId id="2147375301" r:id="rId19"/>
    <p:sldId id="2147375302" r:id="rId20"/>
    <p:sldId id="2147375311" r:id="rId21"/>
    <p:sldId id="2147375303" r:id="rId22"/>
    <p:sldId id="2147375304" r:id="rId23"/>
    <p:sldId id="2147375305" r:id="rId24"/>
    <p:sldId id="2147375312" r:id="rId25"/>
    <p:sldId id="2147375306" r:id="rId26"/>
    <p:sldId id="2147375308" r:id="rId27"/>
    <p:sldId id="2147375309" r:id="rId28"/>
    <p:sldId id="880" r:id="rId29"/>
  </p:sldIdLst>
  <p:sldSz cx="11520488" cy="6480175"/>
  <p:notesSz cx="6808788" cy="9940925"/>
  <p:custDataLst>
    <p:tags r:id="rId32"/>
  </p:custDataLst>
  <p:defaultTextStyle>
    <a:defPPr marL="0" marR="0" indent="0" algn="l" defTabSz="102823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1pPr>
    <a:lvl2pPr marL="0" marR="0" indent="514117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2pPr>
    <a:lvl3pPr marL="0" marR="0" indent="1028235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3pPr>
    <a:lvl4pPr marL="0" marR="0" indent="1542352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4pPr>
    <a:lvl5pPr marL="0" marR="0" indent="2056471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5pPr>
    <a:lvl6pPr marL="0" marR="0" indent="2570587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6pPr>
    <a:lvl7pPr marL="0" marR="0" indent="3084705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7pPr>
    <a:lvl8pPr marL="0" marR="0" indent="3598822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8pPr>
    <a:lvl9pPr marL="0" marR="0" indent="4112940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9pPr>
  </p:defaultTextStyle>
  <p:extLst>
    <p:ext uri="{EFAFB233-063F-42B5-8137-9DF3F51BA10A}">
      <p15:sldGuideLst xmlns:p15="http://schemas.microsoft.com/office/powerpoint/2012/main">
        <p15:guide id="1" orient="horz" pos="1996" userDrawn="1">
          <p15:clr>
            <a:srgbClr val="A4A3A4"/>
          </p15:clr>
        </p15:guide>
        <p15:guide id="8" pos="5329" userDrawn="1">
          <p15:clr>
            <a:srgbClr val="A4A3A4"/>
          </p15:clr>
        </p15:guide>
        <p15:guide id="10" pos="5216" userDrawn="1">
          <p15:clr>
            <a:srgbClr val="A4A3A4"/>
          </p15:clr>
        </p15:guide>
        <p15:guide id="11" orient="horz" pos="1088" userDrawn="1">
          <p15:clr>
            <a:srgbClr val="A4A3A4"/>
          </p15:clr>
        </p15:guide>
        <p15:guide id="14" pos="5443" userDrawn="1">
          <p15:clr>
            <a:srgbClr val="A4A3A4"/>
          </p15:clr>
        </p15:guide>
        <p15:guide id="20" pos="1928" userDrawn="1">
          <p15:clr>
            <a:srgbClr val="A4A3A4"/>
          </p15:clr>
        </p15:guide>
        <p15:guide id="22" pos="3742" userDrawn="1">
          <p15:clr>
            <a:srgbClr val="A4A3A4"/>
          </p15:clr>
        </p15:guide>
        <p15:guide id="23" pos="35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Юшин Игорь Феликсович" initials="ЮИФ" lastIdx="6" clrIdx="0">
    <p:extLst>
      <p:ext uri="{19B8F6BF-5375-455C-9EA6-DF929625EA0E}">
        <p15:presenceInfo xmlns:p15="http://schemas.microsoft.com/office/powerpoint/2012/main" userId="S-1-5-21-1427493287-2892074134-283380318-11878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8"/>
    <a:srgbClr val="979797"/>
    <a:srgbClr val="CCFFFF"/>
    <a:srgbClr val="7F7F7F"/>
    <a:srgbClr val="D38235"/>
    <a:srgbClr val="01BAD7"/>
    <a:srgbClr val="009CA6"/>
    <a:srgbClr val="A6A6A6"/>
    <a:srgbClr val="654EA3"/>
    <a:srgbClr val="D7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ahoma"/>
          <a:ea typeface="Tahoma"/>
          <a:cs typeface="Tahoma"/>
        </a:font>
        <a:srgbClr val="1F1B1A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EDD"/>
          </a:solidFill>
        </a:fill>
      </a:tcStyle>
    </a:wholeTbl>
    <a:band2H>
      <a:tcTxStyle/>
      <a:tcStyle>
        <a:tcBdr/>
        <a:fill>
          <a:solidFill>
            <a:srgbClr val="E6E8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ahoma"/>
          <a:ea typeface="Tahoma"/>
          <a:cs typeface="Tahoma"/>
        </a:font>
        <a:srgbClr val="1F1B1A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E5EF"/>
          </a:solidFill>
        </a:fill>
      </a:tcStyle>
    </a:wholeTbl>
    <a:band2H>
      <a:tcTxStyle/>
      <a:tcStyle>
        <a:tcBdr/>
        <a:fill>
          <a:solidFill>
            <a:srgbClr val="EFF3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ahoma"/>
          <a:ea typeface="Tahoma"/>
          <a:cs typeface="Tahoma"/>
        </a:font>
        <a:srgbClr val="1F1B1A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EDD"/>
          </a:solidFill>
        </a:fill>
      </a:tcStyle>
    </a:wholeTbl>
    <a:band2H>
      <a:tcTxStyle/>
      <a:tcStyle>
        <a:tcBdr/>
        <a:fill>
          <a:solidFill>
            <a:srgbClr val="E6E8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ahoma"/>
          <a:ea typeface="Tahoma"/>
          <a:cs typeface="Tahoma"/>
        </a:font>
        <a:srgbClr val="1F1B1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1F1B1A"/>
        </a:fontRef>
        <a:srgbClr val="1F1B1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1F1B1A"/>
              </a:solidFill>
              <a:prstDash val="solid"/>
              <a:round/>
            </a:ln>
          </a:top>
          <a:bottom>
            <a:ln w="25400" cap="flat">
              <a:solidFill>
                <a:srgbClr val="1F1B1A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1F1B1A"/>
              </a:solidFill>
              <a:prstDash val="solid"/>
              <a:round/>
            </a:ln>
          </a:top>
          <a:bottom>
            <a:ln w="25400" cap="flat">
              <a:solidFill>
                <a:srgbClr val="1F1B1A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ahoma"/>
          <a:ea typeface="Tahoma"/>
          <a:cs typeface="Tahoma"/>
        </a:font>
        <a:srgbClr val="1F1B1A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BCB"/>
          </a:solidFill>
        </a:fill>
      </a:tcStyle>
    </a:wholeTbl>
    <a:band2H>
      <a:tcTxStyle/>
      <a:tcStyle>
        <a:tcBdr/>
        <a:fill>
          <a:solidFill>
            <a:srgbClr val="E7E7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F1B1A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F1B1A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F1B1A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ahoma"/>
          <a:ea typeface="Tahoma"/>
          <a:cs typeface="Tahoma"/>
        </a:font>
        <a:srgbClr val="1F1B1A"/>
      </a:tcTxStyle>
      <a:tcStyle>
        <a:tcBdr>
          <a:left>
            <a:ln w="12700" cap="flat">
              <a:solidFill>
                <a:srgbClr val="1F1B1A"/>
              </a:solidFill>
              <a:prstDash val="solid"/>
              <a:round/>
            </a:ln>
          </a:left>
          <a:right>
            <a:ln w="12700" cap="flat">
              <a:solidFill>
                <a:srgbClr val="1F1B1A"/>
              </a:solidFill>
              <a:prstDash val="solid"/>
              <a:round/>
            </a:ln>
          </a:right>
          <a:top>
            <a:ln w="12700" cap="flat">
              <a:solidFill>
                <a:srgbClr val="1F1B1A"/>
              </a:solidFill>
              <a:prstDash val="solid"/>
              <a:round/>
            </a:ln>
          </a:top>
          <a:bottom>
            <a:ln w="12700" cap="flat">
              <a:solidFill>
                <a:srgbClr val="1F1B1A"/>
              </a:solidFill>
              <a:prstDash val="solid"/>
              <a:round/>
            </a:ln>
          </a:bottom>
          <a:insideH>
            <a:ln w="12700" cap="flat">
              <a:solidFill>
                <a:srgbClr val="1F1B1A"/>
              </a:solidFill>
              <a:prstDash val="solid"/>
              <a:round/>
            </a:ln>
          </a:insideH>
          <a:insideV>
            <a:ln w="12700" cap="flat">
              <a:solidFill>
                <a:srgbClr val="1F1B1A"/>
              </a:solidFill>
              <a:prstDash val="solid"/>
              <a:round/>
            </a:ln>
          </a:insideV>
        </a:tcBdr>
        <a:fill>
          <a:solidFill>
            <a:srgbClr val="1F1B1A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1F1B1A"/>
        </a:fontRef>
        <a:srgbClr val="1F1B1A"/>
      </a:tcTxStyle>
      <a:tcStyle>
        <a:tcBdr>
          <a:left>
            <a:ln w="12700" cap="flat">
              <a:solidFill>
                <a:srgbClr val="1F1B1A"/>
              </a:solidFill>
              <a:prstDash val="solid"/>
              <a:round/>
            </a:ln>
          </a:left>
          <a:right>
            <a:ln w="12700" cap="flat">
              <a:solidFill>
                <a:srgbClr val="1F1B1A"/>
              </a:solidFill>
              <a:prstDash val="solid"/>
              <a:round/>
            </a:ln>
          </a:right>
          <a:top>
            <a:ln w="12700" cap="flat">
              <a:solidFill>
                <a:srgbClr val="1F1B1A"/>
              </a:solidFill>
              <a:prstDash val="solid"/>
              <a:round/>
            </a:ln>
          </a:top>
          <a:bottom>
            <a:ln w="12700" cap="flat">
              <a:solidFill>
                <a:srgbClr val="1F1B1A"/>
              </a:solidFill>
              <a:prstDash val="solid"/>
              <a:round/>
            </a:ln>
          </a:bottom>
          <a:insideH>
            <a:ln w="12700" cap="flat">
              <a:solidFill>
                <a:srgbClr val="1F1B1A"/>
              </a:solidFill>
              <a:prstDash val="solid"/>
              <a:round/>
            </a:ln>
          </a:insideH>
          <a:insideV>
            <a:ln w="12700" cap="flat">
              <a:solidFill>
                <a:srgbClr val="1F1B1A"/>
              </a:solidFill>
              <a:prstDash val="solid"/>
              <a:round/>
            </a:ln>
          </a:insideV>
        </a:tcBdr>
        <a:fill>
          <a:solidFill>
            <a:srgbClr val="1F1B1A">
              <a:alpha val="20000"/>
            </a:srgbClr>
          </a:solidFill>
        </a:fill>
      </a:tcStyle>
    </a:firstCol>
    <a:lastRow>
      <a:tcTxStyle b="on" i="off">
        <a:fontRef idx="major">
          <a:srgbClr val="1F1B1A"/>
        </a:fontRef>
        <a:srgbClr val="1F1B1A"/>
      </a:tcTxStyle>
      <a:tcStyle>
        <a:tcBdr>
          <a:left>
            <a:ln w="12700" cap="flat">
              <a:solidFill>
                <a:srgbClr val="1F1B1A"/>
              </a:solidFill>
              <a:prstDash val="solid"/>
              <a:round/>
            </a:ln>
          </a:left>
          <a:right>
            <a:ln w="12700" cap="flat">
              <a:solidFill>
                <a:srgbClr val="1F1B1A"/>
              </a:solidFill>
              <a:prstDash val="solid"/>
              <a:round/>
            </a:ln>
          </a:right>
          <a:top>
            <a:ln w="50800" cap="flat">
              <a:solidFill>
                <a:srgbClr val="1F1B1A"/>
              </a:solidFill>
              <a:prstDash val="solid"/>
              <a:round/>
            </a:ln>
          </a:top>
          <a:bottom>
            <a:ln w="12700" cap="flat">
              <a:solidFill>
                <a:srgbClr val="1F1B1A"/>
              </a:solidFill>
              <a:prstDash val="solid"/>
              <a:round/>
            </a:ln>
          </a:bottom>
          <a:insideH>
            <a:ln w="12700" cap="flat">
              <a:solidFill>
                <a:srgbClr val="1F1B1A"/>
              </a:solidFill>
              <a:prstDash val="solid"/>
              <a:round/>
            </a:ln>
          </a:insideH>
          <a:insideV>
            <a:ln w="12700" cap="flat">
              <a:solidFill>
                <a:srgbClr val="1F1B1A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1F1B1A"/>
        </a:fontRef>
        <a:srgbClr val="1F1B1A"/>
      </a:tcTxStyle>
      <a:tcStyle>
        <a:tcBdr>
          <a:left>
            <a:ln w="12700" cap="flat">
              <a:solidFill>
                <a:srgbClr val="1F1B1A"/>
              </a:solidFill>
              <a:prstDash val="solid"/>
              <a:round/>
            </a:ln>
          </a:left>
          <a:right>
            <a:ln w="12700" cap="flat">
              <a:solidFill>
                <a:srgbClr val="1F1B1A"/>
              </a:solidFill>
              <a:prstDash val="solid"/>
              <a:round/>
            </a:ln>
          </a:right>
          <a:top>
            <a:ln w="12700" cap="flat">
              <a:solidFill>
                <a:srgbClr val="1F1B1A"/>
              </a:solidFill>
              <a:prstDash val="solid"/>
              <a:round/>
            </a:ln>
          </a:top>
          <a:bottom>
            <a:ln w="25400" cap="flat">
              <a:solidFill>
                <a:srgbClr val="1F1B1A"/>
              </a:solidFill>
              <a:prstDash val="solid"/>
              <a:round/>
            </a:ln>
          </a:bottom>
          <a:insideH>
            <a:ln w="12700" cap="flat">
              <a:solidFill>
                <a:srgbClr val="1F1B1A"/>
              </a:solidFill>
              <a:prstDash val="solid"/>
              <a:round/>
            </a:ln>
          </a:insideH>
          <a:insideV>
            <a:ln w="12700" cap="flat">
              <a:solidFill>
                <a:srgbClr val="1F1B1A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82" autoAdjust="0"/>
    <p:restoredTop sz="81324" autoAdjust="0"/>
  </p:normalViewPr>
  <p:slideViewPr>
    <p:cSldViewPr snapToGrid="0">
      <p:cViewPr varScale="1">
        <p:scale>
          <a:sx n="96" d="100"/>
          <a:sy n="96" d="100"/>
        </p:scale>
        <p:origin x="288" y="72"/>
      </p:cViewPr>
      <p:guideLst>
        <p:guide orient="horz" pos="1996"/>
        <p:guide pos="5329"/>
        <p:guide pos="5216"/>
        <p:guide orient="horz" pos="1088"/>
        <p:guide pos="5443"/>
        <p:guide pos="1928"/>
        <p:guide pos="3742"/>
        <p:guide pos="35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084"/>
    </p:cViewPr>
  </p:sorterViewPr>
  <p:notesViewPr>
    <p:cSldViewPr snapToGrid="0">
      <p:cViewPr varScale="1">
        <p:scale>
          <a:sx n="93" d="100"/>
          <a:sy n="93" d="100"/>
        </p:scale>
        <p:origin x="3411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0" y="0"/>
            <a:ext cx="2950475" cy="498773"/>
          </a:xfrm>
          <a:prstGeom prst="rect">
            <a:avLst/>
          </a:prstGeom>
        </p:spPr>
        <p:txBody>
          <a:bodyPr vert="horz" lIns="91577" tIns="45789" rIns="91577" bIns="457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6748" y="0"/>
            <a:ext cx="2950475" cy="498773"/>
          </a:xfrm>
          <a:prstGeom prst="rect">
            <a:avLst/>
          </a:prstGeom>
        </p:spPr>
        <p:txBody>
          <a:bodyPr vert="horz" lIns="91577" tIns="45789" rIns="91577" bIns="45789" rtlCol="0"/>
          <a:lstStyle>
            <a:lvl1pPr algn="r">
              <a:defRPr sz="1200"/>
            </a:lvl1pPr>
          </a:lstStyle>
          <a:p>
            <a:fld id="{40EEAB86-2016-4C29-8CBB-7DD7FC6625C5}" type="datetimeFigureOut">
              <a:rPr lang="en-US" smtClean="0"/>
              <a:pPr/>
              <a:t>6/16/2024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0" y="9442160"/>
            <a:ext cx="2950475" cy="498772"/>
          </a:xfrm>
          <a:prstGeom prst="rect">
            <a:avLst/>
          </a:prstGeom>
        </p:spPr>
        <p:txBody>
          <a:bodyPr vert="horz" lIns="91577" tIns="45789" rIns="91577" bIns="457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6748" y="9442160"/>
            <a:ext cx="2950475" cy="498772"/>
          </a:xfrm>
          <a:prstGeom prst="rect">
            <a:avLst/>
          </a:prstGeom>
        </p:spPr>
        <p:txBody>
          <a:bodyPr vert="horz" lIns="91577" tIns="45789" rIns="91577" bIns="45789" rtlCol="0" anchor="b"/>
          <a:lstStyle>
            <a:lvl1pPr algn="r">
              <a:defRPr sz="1200"/>
            </a:lvl1pPr>
          </a:lstStyle>
          <a:p>
            <a:fld id="{949EA1D6-7E2E-46AA-AE06-457001925F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832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27812" cy="3727450"/>
          </a:xfrm>
          <a:prstGeom prst="rect">
            <a:avLst/>
          </a:prstGeom>
        </p:spPr>
        <p:txBody>
          <a:bodyPr lIns="91577" tIns="45789" rIns="91577" bIns="45789"/>
          <a:lstStyle/>
          <a:p>
            <a:endParaRPr/>
          </a:p>
        </p:txBody>
      </p:sp>
      <p:sp>
        <p:nvSpPr>
          <p:cNvPr id="81" name="Shape 81"/>
          <p:cNvSpPr>
            <a:spLocks noGrp="1"/>
          </p:cNvSpPr>
          <p:nvPr>
            <p:ph type="body" sz="quarter" idx="1"/>
          </p:nvPr>
        </p:nvSpPr>
        <p:spPr>
          <a:xfrm>
            <a:off x="907839" y="4721945"/>
            <a:ext cx="4993112" cy="4473416"/>
          </a:xfrm>
          <a:prstGeom prst="rect">
            <a:avLst/>
          </a:prstGeom>
        </p:spPr>
        <p:txBody>
          <a:bodyPr lIns="91577" tIns="45789" rIns="91577" bIns="4578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1463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latinLnBrk="0">
      <a:defRPr sz="1349">
        <a:latin typeface="+mn-lt"/>
        <a:ea typeface="+mn-ea"/>
        <a:cs typeface="+mn-cs"/>
        <a:sym typeface="Calibri"/>
      </a:defRPr>
    </a:lvl1pPr>
    <a:lvl2pPr indent="257059" latinLnBrk="0">
      <a:defRPr sz="1349">
        <a:latin typeface="+mn-lt"/>
        <a:ea typeface="+mn-ea"/>
        <a:cs typeface="+mn-cs"/>
        <a:sym typeface="Calibri"/>
      </a:defRPr>
    </a:lvl2pPr>
    <a:lvl3pPr indent="514117" latinLnBrk="0">
      <a:defRPr sz="1349">
        <a:latin typeface="+mn-lt"/>
        <a:ea typeface="+mn-ea"/>
        <a:cs typeface="+mn-cs"/>
        <a:sym typeface="Calibri"/>
      </a:defRPr>
    </a:lvl3pPr>
    <a:lvl4pPr indent="771176" latinLnBrk="0">
      <a:defRPr sz="1349">
        <a:latin typeface="+mn-lt"/>
        <a:ea typeface="+mn-ea"/>
        <a:cs typeface="+mn-cs"/>
        <a:sym typeface="Calibri"/>
      </a:defRPr>
    </a:lvl4pPr>
    <a:lvl5pPr indent="1028235" latinLnBrk="0">
      <a:defRPr sz="1349">
        <a:latin typeface="+mn-lt"/>
        <a:ea typeface="+mn-ea"/>
        <a:cs typeface="+mn-cs"/>
        <a:sym typeface="Calibri"/>
      </a:defRPr>
    </a:lvl5pPr>
    <a:lvl6pPr indent="1285295" latinLnBrk="0">
      <a:defRPr sz="1349">
        <a:latin typeface="+mn-lt"/>
        <a:ea typeface="+mn-ea"/>
        <a:cs typeface="+mn-cs"/>
        <a:sym typeface="Calibri"/>
      </a:defRPr>
    </a:lvl6pPr>
    <a:lvl7pPr indent="1542352" latinLnBrk="0">
      <a:defRPr sz="1349">
        <a:latin typeface="+mn-lt"/>
        <a:ea typeface="+mn-ea"/>
        <a:cs typeface="+mn-cs"/>
        <a:sym typeface="Calibri"/>
      </a:defRPr>
    </a:lvl7pPr>
    <a:lvl8pPr indent="1799412" latinLnBrk="0">
      <a:defRPr sz="1349">
        <a:latin typeface="+mn-lt"/>
        <a:ea typeface="+mn-ea"/>
        <a:cs typeface="+mn-cs"/>
        <a:sym typeface="Calibri"/>
      </a:defRPr>
    </a:lvl8pPr>
    <a:lvl9pPr indent="2056471" latinLnBrk="0">
      <a:defRPr sz="1349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ые слай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F55609AD-4A16-4E81-B882-4C9514C745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961" y="2043216"/>
            <a:ext cx="6284012" cy="29057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1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4BBA2-221E-4DE7-86C2-044C8C3FED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961" y="641380"/>
            <a:ext cx="8816975" cy="731838"/>
          </a:xfrm>
          <a:prstGeom prst="rect">
            <a:avLst/>
          </a:prstGeom>
        </p:spPr>
        <p:txBody>
          <a:bodyPr lIns="0" tIns="144000" rIns="0" b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 b="1" i="0">
                <a:solidFill>
                  <a:srgbClr val="0077C8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994AD0E-3DC7-FB73-4943-765A436B8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688" y="0"/>
            <a:ext cx="8816975" cy="4730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 b="1">
                <a:solidFill>
                  <a:srgbClr val="7F7F7F"/>
                </a:solidFill>
              </a:defRPr>
            </a:lvl1pPr>
            <a:lvl2pPr marL="432013" indent="0">
              <a:buNone/>
              <a:defRPr/>
            </a:lvl2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2120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9114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768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heme" Target="../theme/theme1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vmlDrawing" Target="../drawings/vmlDrawing1.vml"/><Relationship Id="rId9" Type="http://schemas.openxmlformats.org/officeDocument/2006/relationships/image" Target="../media/image3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2.v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630043489"/>
              </p:ext>
            </p:extLst>
          </p:nvPr>
        </p:nvGraphicFramePr>
        <p:xfrm>
          <a:off x="2003" y="1502"/>
          <a:ext cx="1999" cy="1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5" name="Объект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" y="1502"/>
                        <a:ext cx="1999" cy="14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78A89D91-D99C-4EE2-9930-93999B6C42D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75995"/>
            <a:ext cx="11520488" cy="0"/>
          </a:xfrm>
          <a:prstGeom prst="line">
            <a:avLst/>
          </a:prstGeom>
          <a:ln w="22225"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9000">
                  <a:schemeClr val="bg1">
                    <a:lumMod val="85000"/>
                  </a:schemeClr>
                </a:gs>
                <a:gs pos="91000">
                  <a:schemeClr val="bg1">
                    <a:lumMod val="75000"/>
                  </a:schemeClr>
                </a:gs>
                <a:gs pos="100000">
                  <a:schemeClr val="bg1"/>
                </a:gs>
                <a:gs pos="50000">
                  <a:schemeClr val="bg1">
                    <a:lumMod val="65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скругленные верхние углы 15">
            <a:extLst>
              <a:ext uri="{FF2B5EF4-FFF2-40B4-BE49-F238E27FC236}">
                <a16:creationId xmlns:a16="http://schemas.microsoft.com/office/drawing/2014/main" id="{E200DDE3-DE49-4A89-A783-CEE9D13CF53C}"/>
              </a:ext>
            </a:extLst>
          </p:cNvPr>
          <p:cNvSpPr/>
          <p:nvPr userDrawn="1"/>
        </p:nvSpPr>
        <p:spPr>
          <a:xfrm flipV="1">
            <a:off x="9677458" y="0"/>
            <a:ext cx="351356" cy="403028"/>
          </a:xfrm>
          <a:prstGeom prst="round2SameRect">
            <a:avLst/>
          </a:prstGeom>
          <a:solidFill>
            <a:srgbClr val="A6A6A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9691" indent="-39691" algn="l">
              <a:spcBef>
                <a:spcPts val="273"/>
              </a:spcBef>
              <a:buClr>
                <a:srgbClr val="0070C0"/>
              </a:buClr>
              <a:buFont typeface="Arial"/>
              <a:buChar char="•"/>
            </a:pPr>
            <a:endParaRPr lang="ru-RU" sz="545" dirty="0">
              <a:solidFill>
                <a:schemeClr val="tx1"/>
              </a:solidFill>
            </a:endParaRPr>
          </a:p>
        </p:txBody>
      </p:sp>
      <p:sp>
        <p:nvSpPr>
          <p:cNvPr id="17" name="Номер слайда 5">
            <a:extLst>
              <a:ext uri="{FF2B5EF4-FFF2-40B4-BE49-F238E27FC236}">
                <a16:creationId xmlns:a16="http://schemas.microsoft.com/office/drawing/2014/main" id="{E764BBF2-1E11-47C9-88FD-10F8A5F2B48C}"/>
              </a:ext>
            </a:extLst>
          </p:cNvPr>
          <p:cNvSpPr txBox="1">
            <a:spLocks/>
          </p:cNvSpPr>
          <p:nvPr userDrawn="1"/>
        </p:nvSpPr>
        <p:spPr>
          <a:xfrm>
            <a:off x="9677856" y="31249"/>
            <a:ext cx="351356" cy="371781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r" defTabSz="1474872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7436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74872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12309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49745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87181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24617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62053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99489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6B06EC4-1553-4EEC-8AFC-5F4512671736}" type="slidenum">
              <a:rPr lang="ru-RU" sz="945" smtClean="0">
                <a:solidFill>
                  <a:schemeClr val="bg1"/>
                </a:solidFill>
              </a:rPr>
              <a:pPr algn="ctr"/>
              <a:t>‹#›</a:t>
            </a:fld>
            <a:endParaRPr lang="ru-RU" sz="945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E613F44-B273-61F2-01AD-BFBCAF80167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23235" y="103525"/>
            <a:ext cx="849564" cy="26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85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6" r:id="rId2"/>
  </p:sldLayoutIdLst>
  <p:hf sldNum="0" hdr="0" ftr="0" dt="0"/>
  <p:txStyles>
    <p:titleStyle>
      <a:lvl1pPr algn="l" defTabSz="864026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6" indent="-216006" algn="l" defTabSz="864026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9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32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45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58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70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83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96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109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13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26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8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51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64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77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90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102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97" userDrawn="1">
          <p15:clr>
            <a:srgbClr val="F26B43"/>
          </p15:clr>
        </p15:guide>
        <p15:guide id="2" pos="3629" userDrawn="1">
          <p15:clr>
            <a:srgbClr val="F26B43"/>
          </p15:clr>
        </p15:guide>
        <p15:guide id="3" pos="345" userDrawn="1">
          <p15:clr>
            <a:srgbClr val="F26B43"/>
          </p15:clr>
        </p15:guide>
        <p15:guide id="4" pos="6912" userDrawn="1">
          <p15:clr>
            <a:srgbClr val="F26B43"/>
          </p15:clr>
        </p15:guide>
        <p15:guide id="5" orient="horz" pos="204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630043489"/>
              </p:ext>
            </p:extLst>
          </p:nvPr>
        </p:nvGraphicFramePr>
        <p:xfrm>
          <a:off x="2003" y="1502"/>
          <a:ext cx="1999" cy="1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3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5" name="Объект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" y="1502"/>
                        <a:ext cx="1999" cy="14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7645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lvl1pPr algn="l" defTabSz="864026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6" indent="-216006" algn="l" defTabSz="864026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9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32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45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58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70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83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96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109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13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26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8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51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64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77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90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102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97" userDrawn="1">
          <p15:clr>
            <a:srgbClr val="F26B43"/>
          </p15:clr>
        </p15:guide>
        <p15:guide id="2" pos="3629" userDrawn="1">
          <p15:clr>
            <a:srgbClr val="F26B43"/>
          </p15:clr>
        </p15:guide>
        <p15:guide id="3" pos="345" userDrawn="1">
          <p15:clr>
            <a:srgbClr val="F26B43"/>
          </p15:clr>
        </p15:guide>
        <p15:guide id="4" pos="6912" userDrawn="1">
          <p15:clr>
            <a:srgbClr val="F26B43"/>
          </p15:clr>
        </p15:guide>
        <p15:guide id="5" orient="horz" pos="204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F8B312-6B43-4F66-8B51-1EF1BD650E1A}"/>
              </a:ext>
            </a:extLst>
          </p:cNvPr>
          <p:cNvSpPr txBox="1"/>
          <p:nvPr/>
        </p:nvSpPr>
        <p:spPr>
          <a:xfrm>
            <a:off x="5256053" y="3985001"/>
            <a:ext cx="5971309" cy="2084133"/>
          </a:xfrm>
          <a:prstGeom prst="rect">
            <a:avLst/>
          </a:prstGeom>
          <a:noFill/>
          <a:effectLst/>
        </p:spPr>
        <p:txBody>
          <a:bodyPr wrap="square" lIns="0" rIns="0" rtlCol="0" anchor="t" anchorCtr="0">
            <a:noAutofit/>
          </a:bodyPr>
          <a:lstStyle/>
          <a:p>
            <a:r>
              <a:rPr lang="ru-RU" sz="3200" b="1" dirty="0">
                <a:solidFill>
                  <a:srgbClr val="0077C8"/>
                </a:solidFill>
                <a:latin typeface="+mj-lt"/>
                <a:cs typeface="Arial" panose="020B0604020202020204" pitchFamily="34" charset="0"/>
              </a:rPr>
              <a:t>ИНСТИТУТ ГИПРОНИКЕЛЬ</a:t>
            </a:r>
          </a:p>
          <a:p>
            <a:pPr>
              <a:spcBef>
                <a:spcPts val="1200"/>
              </a:spcBef>
            </a:pPr>
            <a:r>
              <a:rPr lang="ru-RU" sz="2100" dirty="0">
                <a:solidFill>
                  <a:srgbClr val="0077C8"/>
                </a:solidFill>
                <a:latin typeface="+mj-lt"/>
                <a:cs typeface="Arial" panose="020B0604020202020204" pitchFamily="34" charset="0"/>
              </a:rPr>
              <a:t>ПЕРЕРАБОТКА РУДНЫХ ОБРАЗОВАНИЙ ОКЕАНА  </a:t>
            </a:r>
          </a:p>
          <a:p>
            <a:pPr>
              <a:spcBef>
                <a:spcPts val="1200"/>
              </a:spcBef>
            </a:pPr>
            <a:r>
              <a:rPr lang="ru-RU" sz="2100" dirty="0">
                <a:solidFill>
                  <a:srgbClr val="0077C8"/>
                </a:solidFill>
                <a:latin typeface="+mj-lt"/>
                <a:cs typeface="Arial" panose="020B0604020202020204" pitchFamily="34" charset="0"/>
              </a:rPr>
              <a:t>Директор Департамента по исследования и разработкам, д.т.н., профессор   Л.Б. Цымбулов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B3C4DB-EC6C-4B51-8812-98ACEE836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147" y="611796"/>
            <a:ext cx="1190366" cy="113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9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7">
            <a:extLst>
              <a:ext uri="{FF2B5EF4-FFF2-40B4-BE49-F238E27FC236}">
                <a16:creationId xmlns:a16="http://schemas.microsoft.com/office/drawing/2014/main" id="{740760DE-2E7C-4636-9644-029A379509C6}"/>
              </a:ext>
            </a:extLst>
          </p:cNvPr>
          <p:cNvSpPr txBox="1">
            <a:spLocks/>
          </p:cNvSpPr>
          <p:nvPr/>
        </p:nvSpPr>
        <p:spPr>
          <a:xfrm>
            <a:off x="604976" y="848463"/>
            <a:ext cx="2978726" cy="1976490"/>
          </a:xfrm>
          <a:prstGeom prst="rect">
            <a:avLst/>
          </a:prstGeom>
          <a:solidFill>
            <a:srgbClr val="0077C8"/>
          </a:solidFill>
        </p:spPr>
        <p:txBody>
          <a:bodyPr lIns="0" tIns="0" rIns="0" bIns="0" anchor="ctr" anchorCtr="0"/>
          <a:lstStyle>
            <a:lvl1pPr marL="0" indent="0" algn="l" defTabSz="864026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None/>
              <a:defRPr sz="1400" b="1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32013" indent="0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None/>
              <a:defRPr sz="22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32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2045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4058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70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83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96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109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1600" dirty="0">
                <a:solidFill>
                  <a:schemeClr val="bg1"/>
                </a:solidFill>
              </a:rPr>
              <a:t>Железо-марганцевые  </a:t>
            </a:r>
          </a:p>
          <a:p>
            <a:pPr algn="ctr">
              <a:spcBef>
                <a:spcPts val="0"/>
              </a:spcBef>
            </a:pPr>
            <a:r>
              <a:rPr lang="ru-RU" sz="1600" dirty="0">
                <a:solidFill>
                  <a:schemeClr val="bg1"/>
                </a:solidFill>
              </a:rPr>
              <a:t>конкреции</a:t>
            </a:r>
          </a:p>
          <a:p>
            <a:pPr algn="ctr"/>
            <a:endParaRPr lang="ru-RU" sz="1600" b="0" dirty="0">
              <a:solidFill>
                <a:schemeClr val="bg1"/>
              </a:solidFill>
            </a:endParaRPr>
          </a:p>
          <a:p>
            <a:pPr algn="ctr"/>
            <a:r>
              <a:rPr lang="ru-RU" sz="1600" dirty="0">
                <a:solidFill>
                  <a:schemeClr val="bg1"/>
                </a:solidFill>
              </a:rPr>
              <a:t>ЖМК</a:t>
            </a:r>
          </a:p>
          <a:p>
            <a:r>
              <a:rPr lang="ru-RU" b="0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9D79D-DF74-4A0D-A01C-8978CEF437FA}"/>
              </a:ext>
            </a:extLst>
          </p:cNvPr>
          <p:cNvSpPr txBox="1"/>
          <p:nvPr/>
        </p:nvSpPr>
        <p:spPr>
          <a:xfrm>
            <a:off x="651356" y="55418"/>
            <a:ext cx="5926279" cy="4852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Основные типы рудных образований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7BDF2D46-003A-44A6-9F83-2C457CEB4F38}"/>
              </a:ext>
            </a:extLst>
          </p:cNvPr>
          <p:cNvSpPr txBox="1">
            <a:spLocks/>
          </p:cNvSpPr>
          <p:nvPr/>
        </p:nvSpPr>
        <p:spPr>
          <a:xfrm>
            <a:off x="4218617" y="848463"/>
            <a:ext cx="2921265" cy="1976490"/>
          </a:xfrm>
          <a:prstGeom prst="rect">
            <a:avLst/>
          </a:prstGeom>
          <a:solidFill>
            <a:srgbClr val="0077C8"/>
          </a:solidFill>
        </p:spPr>
        <p:txBody>
          <a:bodyPr lIns="0" tIns="0" rIns="0" bIns="0" anchor="ctr" anchorCtr="0"/>
          <a:lstStyle>
            <a:lvl1pPr marL="0" indent="0" algn="l" defTabSz="864026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None/>
              <a:defRPr sz="1400" b="1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32013" indent="0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None/>
              <a:defRPr sz="22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32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2045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4058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70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83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96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109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1600" dirty="0">
                <a:solidFill>
                  <a:schemeClr val="bg1"/>
                </a:solidFill>
              </a:rPr>
              <a:t>Кобальт-марганцевые  корки</a:t>
            </a:r>
          </a:p>
          <a:p>
            <a:pPr algn="ctr"/>
            <a:endParaRPr lang="ru-RU" sz="1600" b="0" dirty="0">
              <a:solidFill>
                <a:schemeClr val="bg1"/>
              </a:solidFill>
            </a:endParaRPr>
          </a:p>
          <a:p>
            <a:pPr algn="ctr"/>
            <a:r>
              <a:rPr lang="ru-RU" sz="1600" dirty="0">
                <a:solidFill>
                  <a:schemeClr val="bg1"/>
                </a:solidFill>
              </a:rPr>
              <a:t>КМК</a:t>
            </a:r>
          </a:p>
          <a:p>
            <a:r>
              <a:rPr lang="ru-RU" b="0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B17FE42-FA94-45BD-83B2-E54F43FBF762}"/>
              </a:ext>
            </a:extLst>
          </p:cNvPr>
          <p:cNvSpPr txBox="1">
            <a:spLocks/>
          </p:cNvSpPr>
          <p:nvPr/>
        </p:nvSpPr>
        <p:spPr>
          <a:xfrm>
            <a:off x="7831497" y="848463"/>
            <a:ext cx="2978726" cy="1976490"/>
          </a:xfrm>
          <a:prstGeom prst="rect">
            <a:avLst/>
          </a:prstGeom>
          <a:solidFill>
            <a:srgbClr val="0077C8"/>
          </a:solidFill>
        </p:spPr>
        <p:txBody>
          <a:bodyPr lIns="0" tIns="0" rIns="0" bIns="0" anchor="ctr" anchorCtr="0"/>
          <a:lstStyle>
            <a:lvl1pPr marL="0" indent="0" algn="l" defTabSz="864026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None/>
              <a:defRPr sz="1400" b="1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32013" indent="0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None/>
              <a:defRPr sz="22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32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2045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4058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70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83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96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109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1600" dirty="0">
                <a:solidFill>
                  <a:schemeClr val="bg1"/>
                </a:solidFill>
              </a:rPr>
              <a:t>Глубоководные полиметаллические сульфиды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</a:rPr>
              <a:t>ГПС</a:t>
            </a:r>
          </a:p>
          <a:p>
            <a:r>
              <a:rPr lang="ru-RU" b="0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5DD2F88-18B6-4F2D-8A0D-C6C1F7B019B3}"/>
              </a:ext>
            </a:extLst>
          </p:cNvPr>
          <p:cNvSpPr/>
          <p:nvPr/>
        </p:nvSpPr>
        <p:spPr>
          <a:xfrm>
            <a:off x="4161157" y="3342403"/>
            <a:ext cx="2978726" cy="1084085"/>
          </a:xfrm>
          <a:prstGeom prst="rect">
            <a:avLst/>
          </a:prstGeom>
          <a:solidFill>
            <a:srgbClr val="D4E9FF"/>
          </a:solidFill>
        </p:spPr>
        <p:txBody>
          <a:bodyPr wrap="square" anchor="ctr" anchorCtr="0">
            <a:noAutofit/>
          </a:bodyPr>
          <a:lstStyle/>
          <a:p>
            <a:pPr marL="88900" lvl="2" indent="0" algn="ctr" defTabSz="914400" fontAlgn="b" hangingPunct="1">
              <a:defRPr/>
            </a:pP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Химический состав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, %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:</a:t>
            </a:r>
          </a:p>
          <a:p>
            <a:pPr marL="88900" lvl="2" indent="0" algn="ctr" defTabSz="914400" fontAlgn="b" hangingPunct="1">
              <a:defRPr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Ni – 0,3-0,9; Cu – 0,1-0,4; </a:t>
            </a:r>
          </a:p>
          <a:p>
            <a:pPr marL="88900" lvl="2" indent="0" algn="ctr" defTabSz="914400" fontAlgn="b" hangingPunct="1">
              <a:defRPr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Co -0,3-2,6; Mn – 13-35;</a:t>
            </a:r>
          </a:p>
          <a:p>
            <a:pPr marL="88900" lvl="2" indent="0" algn="ctr" defTabSz="914400" fontAlgn="b" hangingPunct="1">
              <a:defRPr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Fe – 14-31 </a:t>
            </a: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C43B829-55CD-4D17-9919-03A25740A98E}"/>
              </a:ext>
            </a:extLst>
          </p:cNvPr>
          <p:cNvSpPr/>
          <p:nvPr/>
        </p:nvSpPr>
        <p:spPr>
          <a:xfrm>
            <a:off x="7861892" y="3320721"/>
            <a:ext cx="2978726" cy="1105768"/>
          </a:xfrm>
          <a:prstGeom prst="rect">
            <a:avLst/>
          </a:prstGeom>
          <a:solidFill>
            <a:srgbClr val="D4E9FF"/>
          </a:solidFill>
        </p:spPr>
        <p:txBody>
          <a:bodyPr wrap="square" anchor="ctr" anchorCtr="0">
            <a:noAutofit/>
          </a:bodyPr>
          <a:lstStyle/>
          <a:p>
            <a:pPr marL="88900" lvl="2" indent="0" algn="ctr" defTabSz="914400" fontAlgn="b" hangingPunct="1">
              <a:defRPr/>
            </a:pPr>
            <a:endParaRPr lang="en-US" sz="1200" b="1" i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SimSun" panose="02010600030101010101" pitchFamily="2" charset="-122"/>
            </a:endParaRPr>
          </a:p>
          <a:p>
            <a:pPr marL="88900" lvl="2" indent="0" algn="ctr" defTabSz="914400" fontAlgn="b" hangingPunct="1">
              <a:defRPr/>
            </a:pP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Химический состав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, %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:</a:t>
            </a:r>
          </a:p>
          <a:p>
            <a:pPr marL="88900" lvl="2" indent="0" algn="ctr" defTabSz="914400" fontAlgn="b" hangingPunct="1">
              <a:defRPr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Cu – 1,2-9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,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7; Zn – 1,6-30,7; </a:t>
            </a:r>
          </a:p>
          <a:p>
            <a:pPr marL="88900" lvl="2" indent="0" algn="ctr" defTabSz="914400" fontAlgn="b" hangingPunct="1">
              <a:defRPr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Pb – 1,1 – 9,7; Fe – 13,5-35,7;</a:t>
            </a:r>
          </a:p>
          <a:p>
            <a:pPr marL="88900" lvl="2" indent="0" algn="ctr" defTabSz="914400" fontAlgn="b" hangingPunct="1">
              <a:defRPr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S – 27,3-44,6; S i – 1,5 – 5;</a:t>
            </a:r>
          </a:p>
          <a:p>
            <a:pPr marL="88900" lvl="2" indent="0" algn="ctr" defTabSz="914400" fontAlgn="b" hangingPunct="1">
              <a:defRPr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Ag – 35,1-63,8 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г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т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; </a:t>
            </a:r>
            <a:endParaRPr lang="ru-RU" sz="1200" b="1" i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SimSun" panose="02010600030101010101" pitchFamily="2" charset="-122"/>
            </a:endParaRPr>
          </a:p>
          <a:p>
            <a:pPr marL="88900" lvl="2" indent="0" algn="ctr" defTabSz="914400" fontAlgn="b" hangingPunct="1">
              <a:defRPr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Au – 0,3—7,5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 г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т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  <a:p>
            <a:pPr marL="88900" lvl="2" indent="0" algn="ctr" defTabSz="914400" fontAlgn="b" hangingPunct="1">
              <a:defRPr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. </a:t>
            </a: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3CF434D-5D5C-4424-9650-52BFD27B91C0}"/>
              </a:ext>
            </a:extLst>
          </p:cNvPr>
          <p:cNvSpPr/>
          <p:nvPr/>
        </p:nvSpPr>
        <p:spPr>
          <a:xfrm>
            <a:off x="604214" y="3320720"/>
            <a:ext cx="2978725" cy="1056787"/>
          </a:xfrm>
          <a:prstGeom prst="rect">
            <a:avLst/>
          </a:prstGeom>
          <a:solidFill>
            <a:srgbClr val="D4E9FF"/>
          </a:solidFill>
        </p:spPr>
        <p:txBody>
          <a:bodyPr wrap="square" anchor="ctr" anchorCtr="0">
            <a:noAutofit/>
          </a:bodyPr>
          <a:lstStyle/>
          <a:p>
            <a:pPr marL="88900" lvl="2" indent="0" algn="ctr" defTabSz="914400" fontAlgn="b" hangingPunct="1">
              <a:defRPr/>
            </a:pP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Химический состав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, %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:</a:t>
            </a:r>
          </a:p>
          <a:p>
            <a:pPr marL="88900" lvl="2" indent="0" algn="ctr" defTabSz="914400" fontAlgn="b" hangingPunct="1">
              <a:defRPr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Ni – 0,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4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-1,9; Cu – 0,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-1,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3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; </a:t>
            </a:r>
          </a:p>
          <a:p>
            <a:pPr marL="88900" lvl="2" indent="0" algn="ctr" defTabSz="914400" fontAlgn="b" hangingPunct="1">
              <a:defRPr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Co -0,0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4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-0,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4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0; Mn – 1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34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;</a:t>
            </a:r>
          </a:p>
          <a:p>
            <a:pPr marL="88900" lvl="2" indent="0" algn="ctr" defTabSz="914400" fontAlgn="b" hangingPunct="1">
              <a:defRPr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Fe – 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1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; 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Si- 5-10; Al – 1,5-3,3 </a:t>
            </a: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Стрелка: вниз 1">
            <a:extLst>
              <a:ext uri="{FF2B5EF4-FFF2-40B4-BE49-F238E27FC236}">
                <a16:creationId xmlns:a16="http://schemas.microsoft.com/office/drawing/2014/main" id="{A9CFAD25-6515-4B63-844F-5CEF9437AE0B}"/>
              </a:ext>
            </a:extLst>
          </p:cNvPr>
          <p:cNvSpPr/>
          <p:nvPr/>
        </p:nvSpPr>
        <p:spPr>
          <a:xfrm>
            <a:off x="1953205" y="2804395"/>
            <a:ext cx="141134" cy="5380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: вниз 13">
            <a:extLst>
              <a:ext uri="{FF2B5EF4-FFF2-40B4-BE49-F238E27FC236}">
                <a16:creationId xmlns:a16="http://schemas.microsoft.com/office/drawing/2014/main" id="{90476E46-6F41-4631-945D-978D96BAD9B7}"/>
              </a:ext>
            </a:extLst>
          </p:cNvPr>
          <p:cNvSpPr/>
          <p:nvPr/>
        </p:nvSpPr>
        <p:spPr>
          <a:xfrm>
            <a:off x="5566084" y="2804395"/>
            <a:ext cx="141134" cy="5380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: вниз 14">
            <a:extLst>
              <a:ext uri="{FF2B5EF4-FFF2-40B4-BE49-F238E27FC236}">
                <a16:creationId xmlns:a16="http://schemas.microsoft.com/office/drawing/2014/main" id="{CABA202B-6532-41C3-86D1-F2BCC3E1D568}"/>
              </a:ext>
            </a:extLst>
          </p:cNvPr>
          <p:cNvSpPr/>
          <p:nvPr/>
        </p:nvSpPr>
        <p:spPr>
          <a:xfrm>
            <a:off x="9319239" y="2824953"/>
            <a:ext cx="141134" cy="5380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D10390B-88CD-489E-B44F-928993D54737}"/>
              </a:ext>
            </a:extLst>
          </p:cNvPr>
          <p:cNvSpPr/>
          <p:nvPr/>
        </p:nvSpPr>
        <p:spPr>
          <a:xfrm>
            <a:off x="573900" y="4669855"/>
            <a:ext cx="2993882" cy="1056787"/>
          </a:xfrm>
          <a:prstGeom prst="rect">
            <a:avLst/>
          </a:prstGeom>
          <a:solidFill>
            <a:srgbClr val="D4E9FF"/>
          </a:solidFill>
        </p:spPr>
        <p:txBody>
          <a:bodyPr wrap="square" anchor="ctr" anchorCtr="0">
            <a:noAutofit/>
          </a:bodyPr>
          <a:lstStyle/>
          <a:p>
            <a:pPr marL="88900" lvl="2" indent="0" algn="ctr" defTabSz="914400" fontAlgn="b" hangingPunct="1">
              <a:defRPr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Clarion </a:t>
            </a:r>
            <a:r>
              <a:rPr lang="en-US" sz="1200" b="1" i="1" dirty="0" err="1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Clipperton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РФ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, %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:</a:t>
            </a:r>
          </a:p>
          <a:p>
            <a:pPr marL="88900" lvl="2" indent="0" algn="ctr" defTabSz="914400" fontAlgn="b" hangingPunct="1">
              <a:defRPr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Ni – 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1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,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4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; Cu – 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1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,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1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; </a:t>
            </a:r>
          </a:p>
          <a:p>
            <a:pPr marL="88900" lvl="2" indent="0" algn="ctr" defTabSz="914400" fontAlgn="b" hangingPunct="1">
              <a:defRPr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Co -0,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25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; Mn – 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28</a:t>
            </a:r>
            <a:endParaRPr lang="en-US" sz="1200" b="1" i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Стрелка: вниз 2">
            <a:extLst>
              <a:ext uri="{FF2B5EF4-FFF2-40B4-BE49-F238E27FC236}">
                <a16:creationId xmlns:a16="http://schemas.microsoft.com/office/drawing/2014/main" id="{0E3ADDA0-5095-4E4B-9C35-C05F75DCD182}"/>
              </a:ext>
            </a:extLst>
          </p:cNvPr>
          <p:cNvSpPr/>
          <p:nvPr/>
        </p:nvSpPr>
        <p:spPr>
          <a:xfrm>
            <a:off x="1925126" y="4377507"/>
            <a:ext cx="146045" cy="2878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20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421E5F-0065-4D7C-9BF1-D024E0FDB109}"/>
              </a:ext>
            </a:extLst>
          </p:cNvPr>
          <p:cNvSpPr txBox="1"/>
          <p:nvPr/>
        </p:nvSpPr>
        <p:spPr>
          <a:xfrm>
            <a:off x="720415" y="71898"/>
            <a:ext cx="7869403" cy="6927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ЖМК и КМК </a:t>
            </a:r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AC871E38-5B5B-472D-A95B-67E411304EC7}"/>
              </a:ext>
            </a:extLst>
          </p:cNvPr>
          <p:cNvSpPr txBox="1">
            <a:spLocks/>
          </p:cNvSpPr>
          <p:nvPr/>
        </p:nvSpPr>
        <p:spPr>
          <a:xfrm>
            <a:off x="137005" y="1031775"/>
            <a:ext cx="2978726" cy="1976490"/>
          </a:xfrm>
          <a:prstGeom prst="rect">
            <a:avLst/>
          </a:prstGeom>
          <a:solidFill>
            <a:srgbClr val="0077C8"/>
          </a:solidFill>
        </p:spPr>
        <p:txBody>
          <a:bodyPr lIns="0" tIns="0" rIns="0" bIns="0" anchor="ctr" anchorCtr="0"/>
          <a:lstStyle>
            <a:lvl1pPr marL="0" indent="0" algn="l" defTabSz="864026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None/>
              <a:defRPr sz="1400" b="1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32013" indent="0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None/>
              <a:defRPr sz="22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32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2045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4058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70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83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96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109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1600" dirty="0" err="1">
                <a:solidFill>
                  <a:schemeClr val="bg1"/>
                </a:solidFill>
              </a:rPr>
              <a:t>Пиро</a:t>
            </a:r>
            <a:r>
              <a:rPr lang="ru-RU" sz="1600" dirty="0">
                <a:solidFill>
                  <a:schemeClr val="bg1"/>
                </a:solidFill>
              </a:rPr>
              <a:t>-гидрометаллургические способы </a:t>
            </a:r>
            <a:endParaRPr lang="ru-RU" sz="1600" b="0" dirty="0">
              <a:solidFill>
                <a:schemeClr val="bg1"/>
              </a:solidFill>
            </a:endParaRPr>
          </a:p>
          <a:p>
            <a:r>
              <a:rPr lang="ru-RU" b="0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E8E27729-06DA-4995-92BC-5ACC6D723DEF}"/>
              </a:ext>
            </a:extLst>
          </p:cNvPr>
          <p:cNvSpPr txBox="1">
            <a:spLocks/>
          </p:cNvSpPr>
          <p:nvPr/>
        </p:nvSpPr>
        <p:spPr>
          <a:xfrm>
            <a:off x="6828752" y="1100127"/>
            <a:ext cx="2978726" cy="1976490"/>
          </a:xfrm>
          <a:prstGeom prst="rect">
            <a:avLst/>
          </a:prstGeom>
          <a:solidFill>
            <a:srgbClr val="0077C8"/>
          </a:solidFill>
        </p:spPr>
        <p:txBody>
          <a:bodyPr lIns="0" tIns="0" rIns="0" bIns="0" anchor="ctr" anchorCtr="0"/>
          <a:lstStyle>
            <a:lvl1pPr marL="0" indent="0" algn="l" defTabSz="864026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None/>
              <a:defRPr sz="1400" b="1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32013" indent="0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None/>
              <a:defRPr sz="22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32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2045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4058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70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83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96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109" indent="-216006" algn="l" defTabSz="864026" rtl="0" eaLnBrk="1" latinLnBrk="0" hangingPunct="1">
              <a:lnSpc>
                <a:spcPct val="90000"/>
              </a:lnSpc>
              <a:spcBef>
                <a:spcPts val="473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1600" dirty="0">
                <a:solidFill>
                  <a:schemeClr val="bg1"/>
                </a:solidFill>
              </a:rPr>
              <a:t>Гидрометаллургические способы </a:t>
            </a:r>
            <a:endParaRPr lang="ru-RU" sz="1600" b="0" dirty="0">
              <a:solidFill>
                <a:schemeClr val="bg1"/>
              </a:solidFill>
            </a:endParaRPr>
          </a:p>
          <a:p>
            <a:r>
              <a:rPr lang="ru-RU" b="0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66DCB6F-C93B-42EA-B5C8-BEC2E0299875}"/>
              </a:ext>
            </a:extLst>
          </p:cNvPr>
          <p:cNvSpPr/>
          <p:nvPr/>
        </p:nvSpPr>
        <p:spPr>
          <a:xfrm>
            <a:off x="137005" y="4397161"/>
            <a:ext cx="2024303" cy="681865"/>
          </a:xfrm>
          <a:prstGeom prst="rect">
            <a:avLst/>
          </a:prstGeom>
          <a:solidFill>
            <a:srgbClr val="D4E9FF"/>
          </a:solidFill>
        </p:spPr>
        <p:txBody>
          <a:bodyPr wrap="square" anchor="ctr" anchorCtr="0">
            <a:noAutofit/>
          </a:bodyPr>
          <a:lstStyle/>
          <a:p>
            <a:pPr lvl="2" indent="0" algn="ctr" defTabSz="914400" fontAlgn="b" hangingPunct="1">
              <a:defRPr/>
            </a:pP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Восстановительный обжиг</a:t>
            </a: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5DD5BAF-126E-4E09-9B71-D71692E21689}"/>
              </a:ext>
            </a:extLst>
          </p:cNvPr>
          <p:cNvSpPr/>
          <p:nvPr/>
        </p:nvSpPr>
        <p:spPr>
          <a:xfrm>
            <a:off x="137005" y="5148295"/>
            <a:ext cx="2024302" cy="681865"/>
          </a:xfrm>
          <a:prstGeom prst="rect">
            <a:avLst/>
          </a:prstGeom>
          <a:solidFill>
            <a:srgbClr val="D4E9FF"/>
          </a:solidFill>
        </p:spPr>
        <p:txBody>
          <a:bodyPr wrap="square" anchor="ctr" anchorCtr="0">
            <a:noAutofit/>
          </a:bodyPr>
          <a:lstStyle/>
          <a:p>
            <a:pPr lvl="2" indent="0" algn="ctr" defTabSz="914400" fontAlgn="b" hangingPunct="1">
              <a:defRPr/>
            </a:pP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Хлорирующий </a:t>
            </a:r>
          </a:p>
          <a:p>
            <a:pPr lvl="2" indent="0" algn="ctr" defTabSz="914400" fontAlgn="b" hangingPunct="1">
              <a:defRPr/>
            </a:pP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обжиг</a:t>
            </a: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E395CA3-A567-455C-AF58-9862D4F8A524}"/>
              </a:ext>
            </a:extLst>
          </p:cNvPr>
          <p:cNvSpPr/>
          <p:nvPr/>
        </p:nvSpPr>
        <p:spPr>
          <a:xfrm>
            <a:off x="137006" y="3671637"/>
            <a:ext cx="2024302" cy="681865"/>
          </a:xfrm>
          <a:prstGeom prst="rect">
            <a:avLst/>
          </a:prstGeom>
          <a:solidFill>
            <a:srgbClr val="D4E9FF"/>
          </a:solidFill>
        </p:spPr>
        <p:txBody>
          <a:bodyPr wrap="square" anchor="ctr" anchorCtr="0">
            <a:noAutofit/>
          </a:bodyPr>
          <a:lstStyle/>
          <a:p>
            <a:pPr lvl="2" indent="0" algn="ctr" defTabSz="914400" fontAlgn="b" hangingPunct="1">
              <a:defRPr/>
            </a:pPr>
            <a:r>
              <a:rPr lang="ru-RU" sz="1200" b="1" i="1" dirty="0" err="1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Сульфатизирующий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 обжиг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1263B8D-DAF4-45BC-8C19-7975B715876B}"/>
              </a:ext>
            </a:extLst>
          </p:cNvPr>
          <p:cNvSpPr/>
          <p:nvPr/>
        </p:nvSpPr>
        <p:spPr>
          <a:xfrm>
            <a:off x="6828752" y="3671637"/>
            <a:ext cx="1761066" cy="681865"/>
          </a:xfrm>
          <a:prstGeom prst="rect">
            <a:avLst/>
          </a:prstGeom>
          <a:solidFill>
            <a:srgbClr val="D4E9FF"/>
          </a:solidFill>
        </p:spPr>
        <p:txBody>
          <a:bodyPr wrap="square" anchor="ctr" anchorCtr="0">
            <a:noAutofit/>
          </a:bodyPr>
          <a:lstStyle/>
          <a:p>
            <a:pPr lvl="2" indent="0" algn="ctr" defTabSz="914400" fontAlgn="b" hangingPunct="1">
              <a:defRPr/>
            </a:pP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Сернокислотное выщелачивание</a:t>
            </a: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6D55AA2-0D5D-4699-AC4A-556BB3AE06E3}"/>
              </a:ext>
            </a:extLst>
          </p:cNvPr>
          <p:cNvSpPr/>
          <p:nvPr/>
        </p:nvSpPr>
        <p:spPr>
          <a:xfrm>
            <a:off x="6828752" y="4465438"/>
            <a:ext cx="1761066" cy="681865"/>
          </a:xfrm>
          <a:prstGeom prst="rect">
            <a:avLst/>
          </a:prstGeom>
          <a:solidFill>
            <a:srgbClr val="D4E9FF"/>
          </a:solidFill>
        </p:spPr>
        <p:txBody>
          <a:bodyPr wrap="square" anchor="ctr" anchorCtr="0">
            <a:noAutofit/>
          </a:bodyPr>
          <a:lstStyle/>
          <a:p>
            <a:pPr lvl="2" indent="0" algn="ctr" defTabSz="914400" fontAlgn="b" hangingPunct="1">
              <a:defRPr/>
            </a:pP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Аммиачное выщелачивание</a:t>
            </a: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EBDD9DC-F2E2-4E78-B065-22D2B07D2D5A}"/>
              </a:ext>
            </a:extLst>
          </p:cNvPr>
          <p:cNvSpPr/>
          <p:nvPr/>
        </p:nvSpPr>
        <p:spPr>
          <a:xfrm>
            <a:off x="6828752" y="5259239"/>
            <a:ext cx="1761066" cy="681865"/>
          </a:xfrm>
          <a:prstGeom prst="rect">
            <a:avLst/>
          </a:prstGeom>
          <a:solidFill>
            <a:srgbClr val="D4E9FF"/>
          </a:solidFill>
        </p:spPr>
        <p:txBody>
          <a:bodyPr wrap="square" anchor="ctr" anchorCtr="0">
            <a:noAutofit/>
          </a:bodyPr>
          <a:lstStyle/>
          <a:p>
            <a:pPr lvl="2" indent="0" algn="ctr" defTabSz="914400" fontAlgn="b" hangingPunct="1">
              <a:defRPr/>
            </a:pP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Солянокислое выщелачивание</a:t>
            </a: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16747888-1AA9-4A1F-97B8-CC74DF6B3D42}"/>
              </a:ext>
            </a:extLst>
          </p:cNvPr>
          <p:cNvSpPr/>
          <p:nvPr/>
        </p:nvSpPr>
        <p:spPr>
          <a:xfrm>
            <a:off x="2321840" y="3920008"/>
            <a:ext cx="4349364" cy="185121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A5A424A8-BA98-4338-9542-F7AED67AC5AF}"/>
              </a:ext>
            </a:extLst>
          </p:cNvPr>
          <p:cNvSpPr/>
          <p:nvPr/>
        </p:nvSpPr>
        <p:spPr>
          <a:xfrm>
            <a:off x="2345694" y="5523096"/>
            <a:ext cx="4349364" cy="185121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ACA5B7B2-2F78-4751-8338-E8A48EC2CC61}"/>
              </a:ext>
            </a:extLst>
          </p:cNvPr>
          <p:cNvSpPr/>
          <p:nvPr/>
        </p:nvSpPr>
        <p:spPr>
          <a:xfrm>
            <a:off x="2321840" y="4581762"/>
            <a:ext cx="4349364" cy="185121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4F4C0F2-3984-4D47-A8F0-64956B3FF4AB}"/>
              </a:ext>
            </a:extLst>
          </p:cNvPr>
          <p:cNvSpPr/>
          <p:nvPr/>
        </p:nvSpPr>
        <p:spPr>
          <a:xfrm>
            <a:off x="2630814" y="4766883"/>
            <a:ext cx="1177862" cy="681865"/>
          </a:xfrm>
          <a:prstGeom prst="rect">
            <a:avLst/>
          </a:prstGeom>
          <a:solidFill>
            <a:srgbClr val="D4E9FF"/>
          </a:solidFill>
        </p:spPr>
        <p:txBody>
          <a:bodyPr wrap="square" anchor="ctr" anchorCtr="0">
            <a:noAutofit/>
          </a:bodyPr>
          <a:lstStyle/>
          <a:p>
            <a:pPr lvl="2" indent="0" algn="ctr" defTabSz="914400" fontAlgn="b" hangingPunct="1">
              <a:defRPr/>
            </a:pP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Плавка</a:t>
            </a: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Стрелка: вправо 16">
            <a:extLst>
              <a:ext uri="{FF2B5EF4-FFF2-40B4-BE49-F238E27FC236}">
                <a16:creationId xmlns:a16="http://schemas.microsoft.com/office/drawing/2014/main" id="{1FF8BE93-B8C8-4D1F-B10B-C59BF5805D51}"/>
              </a:ext>
            </a:extLst>
          </p:cNvPr>
          <p:cNvSpPr/>
          <p:nvPr/>
        </p:nvSpPr>
        <p:spPr>
          <a:xfrm>
            <a:off x="2157037" y="4859443"/>
            <a:ext cx="469506" cy="1851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авая фигурная скобка 17">
            <a:extLst>
              <a:ext uri="{FF2B5EF4-FFF2-40B4-BE49-F238E27FC236}">
                <a16:creationId xmlns:a16="http://schemas.microsoft.com/office/drawing/2014/main" id="{A90E07BA-22E1-44A8-B1C0-068DA1F3B539}"/>
              </a:ext>
            </a:extLst>
          </p:cNvPr>
          <p:cNvSpPr/>
          <p:nvPr/>
        </p:nvSpPr>
        <p:spPr bwMode="auto">
          <a:xfrm>
            <a:off x="8723512" y="3681399"/>
            <a:ext cx="190832" cy="2544575"/>
          </a:xfrm>
          <a:prstGeom prst="rightBrace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chemeClr val="tx2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вправо 18">
            <a:extLst>
              <a:ext uri="{FF2B5EF4-FFF2-40B4-BE49-F238E27FC236}">
                <a16:creationId xmlns:a16="http://schemas.microsoft.com/office/drawing/2014/main" id="{C724EA83-4A28-4BFE-AECF-2F759E69B712}"/>
              </a:ext>
            </a:extLst>
          </p:cNvPr>
          <p:cNvSpPr/>
          <p:nvPr/>
        </p:nvSpPr>
        <p:spPr>
          <a:xfrm>
            <a:off x="8914344" y="4353502"/>
            <a:ext cx="579513" cy="156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8E2F5BA-8257-490F-9B09-C8FB6D6F469E}"/>
              </a:ext>
            </a:extLst>
          </p:cNvPr>
          <p:cNvSpPr/>
          <p:nvPr/>
        </p:nvSpPr>
        <p:spPr>
          <a:xfrm>
            <a:off x="9493857" y="3992457"/>
            <a:ext cx="1761066" cy="681865"/>
          </a:xfrm>
          <a:prstGeom prst="rect">
            <a:avLst/>
          </a:prstGeom>
          <a:solidFill>
            <a:srgbClr val="D4E9FF"/>
          </a:solidFill>
        </p:spPr>
        <p:txBody>
          <a:bodyPr wrap="square" anchor="ctr" anchorCtr="0">
            <a:noAutofit/>
          </a:bodyPr>
          <a:lstStyle/>
          <a:p>
            <a:pPr lvl="2" indent="0" algn="ctr" defTabSz="914400" fontAlgn="b" hangingPunct="1">
              <a:defRPr/>
            </a:pPr>
            <a:r>
              <a:rPr lang="ru-RU" sz="1200" b="1" i="1" dirty="0" err="1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Гидрометаллургич.способы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 получения 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Ni, Cu, Co, Mn</a:t>
            </a: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Стрелка: вправо 20">
            <a:extLst>
              <a:ext uri="{FF2B5EF4-FFF2-40B4-BE49-F238E27FC236}">
                <a16:creationId xmlns:a16="http://schemas.microsoft.com/office/drawing/2014/main" id="{D13C31F5-2BD7-49AC-8D77-EDD1ACF6743F}"/>
              </a:ext>
            </a:extLst>
          </p:cNvPr>
          <p:cNvSpPr/>
          <p:nvPr/>
        </p:nvSpPr>
        <p:spPr>
          <a:xfrm>
            <a:off x="8914344" y="5448748"/>
            <a:ext cx="579513" cy="156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4C1579D-FAB1-4A98-AAE3-BB8D0FBC24DF}"/>
              </a:ext>
            </a:extLst>
          </p:cNvPr>
          <p:cNvSpPr/>
          <p:nvPr/>
        </p:nvSpPr>
        <p:spPr>
          <a:xfrm>
            <a:off x="9496236" y="5206091"/>
            <a:ext cx="1761066" cy="681865"/>
          </a:xfrm>
          <a:prstGeom prst="rect">
            <a:avLst/>
          </a:prstGeom>
          <a:solidFill>
            <a:srgbClr val="D4E9FF"/>
          </a:solidFill>
        </p:spPr>
        <p:txBody>
          <a:bodyPr wrap="square" anchor="ctr" anchorCtr="0">
            <a:noAutofit/>
          </a:bodyPr>
          <a:lstStyle/>
          <a:p>
            <a:pPr lvl="2" indent="0" algn="ctr" defTabSz="914400" fontAlgn="b" hangingPunct="1">
              <a:defRPr/>
            </a:pPr>
            <a:r>
              <a:rPr lang="ru-RU" sz="1200" b="1" i="1" dirty="0" err="1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Пирометаллургич</a:t>
            </a: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.</a:t>
            </a:r>
          </a:p>
          <a:p>
            <a:pPr lvl="2" indent="0" algn="ctr" defTabSz="914400" fontAlgn="b" hangingPunct="1">
              <a:defRPr/>
            </a:pP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способы получения </a:t>
            </a: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Fe-Mn, Fe-Si-Mn</a:t>
            </a: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30" name="Соединитель: уступ 29">
            <a:extLst>
              <a:ext uri="{FF2B5EF4-FFF2-40B4-BE49-F238E27FC236}">
                <a16:creationId xmlns:a16="http://schemas.microsoft.com/office/drawing/2014/main" id="{08F9EB67-119E-4382-8FBE-F78C418F6F86}"/>
              </a:ext>
            </a:extLst>
          </p:cNvPr>
          <p:cNvCxnSpPr>
            <a:stCxn id="16" idx="3"/>
          </p:cNvCxnSpPr>
          <p:nvPr/>
        </p:nvCxnSpPr>
        <p:spPr bwMode="auto">
          <a:xfrm flipV="1">
            <a:off x="3808676" y="4174435"/>
            <a:ext cx="3020076" cy="933381"/>
          </a:xfrm>
          <a:prstGeom prst="bentConnector3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6" name="Правая фигурная скобка 35">
            <a:extLst>
              <a:ext uri="{FF2B5EF4-FFF2-40B4-BE49-F238E27FC236}">
                <a16:creationId xmlns:a16="http://schemas.microsoft.com/office/drawing/2014/main" id="{6783595A-2EFC-409B-8C4B-2C600A41A147}"/>
              </a:ext>
            </a:extLst>
          </p:cNvPr>
          <p:cNvSpPr/>
          <p:nvPr/>
        </p:nvSpPr>
        <p:spPr bwMode="auto">
          <a:xfrm rot="16200000">
            <a:off x="1056148" y="2481027"/>
            <a:ext cx="135254" cy="2075072"/>
          </a:xfrm>
          <a:prstGeom prst="rightBrace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chemeClr val="tx2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авая фигурная скобка 36">
            <a:extLst>
              <a:ext uri="{FF2B5EF4-FFF2-40B4-BE49-F238E27FC236}">
                <a16:creationId xmlns:a16="http://schemas.microsoft.com/office/drawing/2014/main" id="{9D24A517-4AEA-4409-805E-22ABF7A4F5EE}"/>
              </a:ext>
            </a:extLst>
          </p:cNvPr>
          <p:cNvSpPr/>
          <p:nvPr/>
        </p:nvSpPr>
        <p:spPr bwMode="auto">
          <a:xfrm rot="16200000">
            <a:off x="7756214" y="2496838"/>
            <a:ext cx="135255" cy="1990175"/>
          </a:xfrm>
          <a:prstGeom prst="rightBrace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chemeClr val="tx2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Стрелка: вниз 38">
            <a:extLst>
              <a:ext uri="{FF2B5EF4-FFF2-40B4-BE49-F238E27FC236}">
                <a16:creationId xmlns:a16="http://schemas.microsoft.com/office/drawing/2014/main" id="{220DAAE2-4379-4915-A390-C78FC72504F8}"/>
              </a:ext>
            </a:extLst>
          </p:cNvPr>
          <p:cNvSpPr/>
          <p:nvPr/>
        </p:nvSpPr>
        <p:spPr>
          <a:xfrm>
            <a:off x="1033669" y="2998779"/>
            <a:ext cx="198783" cy="2863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Стрелка: вниз 39">
            <a:extLst>
              <a:ext uri="{FF2B5EF4-FFF2-40B4-BE49-F238E27FC236}">
                <a16:creationId xmlns:a16="http://schemas.microsoft.com/office/drawing/2014/main" id="{AF99DF5D-9E3F-46FC-A1F8-7158FF543E3D}"/>
              </a:ext>
            </a:extLst>
          </p:cNvPr>
          <p:cNvSpPr/>
          <p:nvPr/>
        </p:nvSpPr>
        <p:spPr>
          <a:xfrm>
            <a:off x="7709285" y="3081865"/>
            <a:ext cx="198783" cy="2863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34CA0CC0-C20F-47F6-A687-F2C5065939A3}"/>
              </a:ext>
            </a:extLst>
          </p:cNvPr>
          <p:cNvSpPr/>
          <p:nvPr/>
        </p:nvSpPr>
        <p:spPr>
          <a:xfrm>
            <a:off x="6828752" y="6053040"/>
            <a:ext cx="1761066" cy="280958"/>
          </a:xfrm>
          <a:prstGeom prst="rect">
            <a:avLst/>
          </a:prstGeom>
          <a:solidFill>
            <a:srgbClr val="D4E9FF"/>
          </a:solidFill>
        </p:spPr>
        <p:txBody>
          <a:bodyPr wrap="square" anchor="ctr" anchorCtr="0">
            <a:noAutofit/>
          </a:bodyPr>
          <a:lstStyle/>
          <a:p>
            <a:pPr lvl="2" indent="0" algn="ctr" defTabSz="914400" fontAlgn="b" hangingPunct="1">
              <a:defRPr/>
            </a:pPr>
            <a:r>
              <a:rPr lang="ru-RU" sz="1100" b="1" i="1" dirty="0" err="1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Биовыщелачивание</a:t>
            </a:r>
            <a:endParaRPr kumimoji="0" lang="ru-RU" sz="11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B34DC43-5786-4AEC-9A87-68A783FC47A7}"/>
              </a:ext>
            </a:extLst>
          </p:cNvPr>
          <p:cNvSpPr/>
          <p:nvPr/>
        </p:nvSpPr>
        <p:spPr>
          <a:xfrm>
            <a:off x="137005" y="5899429"/>
            <a:ext cx="2024302" cy="481411"/>
          </a:xfrm>
          <a:prstGeom prst="rect">
            <a:avLst/>
          </a:prstGeom>
          <a:solidFill>
            <a:srgbClr val="D4E9FF"/>
          </a:solidFill>
        </p:spPr>
        <p:txBody>
          <a:bodyPr wrap="square" anchor="ctr" anchorCtr="0">
            <a:noAutofit/>
          </a:bodyPr>
          <a:lstStyle/>
          <a:p>
            <a:pPr lvl="2" indent="0" algn="ctr" defTabSz="914400" fontAlgn="b" hangingPunct="1">
              <a:defRPr/>
            </a:pPr>
            <a:r>
              <a:rPr lang="ru-RU" sz="1200" b="1" i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Плавка</a:t>
            </a: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2" name="Соединитель: уступ 11">
            <a:extLst>
              <a:ext uri="{FF2B5EF4-FFF2-40B4-BE49-F238E27FC236}">
                <a16:creationId xmlns:a16="http://schemas.microsoft.com/office/drawing/2014/main" id="{E3A27C0E-806F-445B-9AE0-6C59ADBB44E5}"/>
              </a:ext>
            </a:extLst>
          </p:cNvPr>
          <p:cNvCxnSpPr>
            <a:stCxn id="27" idx="3"/>
          </p:cNvCxnSpPr>
          <p:nvPr/>
        </p:nvCxnSpPr>
        <p:spPr bwMode="auto">
          <a:xfrm flipV="1">
            <a:off x="2161307" y="4333389"/>
            <a:ext cx="4667445" cy="1806746"/>
          </a:xfrm>
          <a:prstGeom prst="bentConnector3">
            <a:avLst/>
          </a:prstGeom>
          <a:ln w="1587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19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DD9012-2A02-4DC3-BEF2-A1D252DAD694}"/>
              </a:ext>
            </a:extLst>
          </p:cNvPr>
          <p:cNvSpPr txBox="1"/>
          <p:nvPr/>
        </p:nvSpPr>
        <p:spPr>
          <a:xfrm>
            <a:off x="377604" y="574099"/>
            <a:ext cx="4897065" cy="1237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Переработка железо-марганцевых конкреций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F13F1F-BEA3-48F4-903D-EA5EE229D60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244" y="478814"/>
            <a:ext cx="5514449" cy="6001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C144A1-7638-4D1E-B2AA-16A2AB9A23A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65" y="2591852"/>
            <a:ext cx="4223544" cy="32177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1881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D11F48-7C8A-4802-ADDF-F8D0CAA651D0}"/>
              </a:ext>
            </a:extLst>
          </p:cNvPr>
          <p:cNvSpPr txBox="1"/>
          <p:nvPr/>
        </p:nvSpPr>
        <p:spPr>
          <a:xfrm>
            <a:off x="598999" y="145536"/>
            <a:ext cx="8562732" cy="6354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железо-марганцевых конкреций Процесс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Vale (Inco)</a:t>
            </a:r>
            <a:endParaRPr lang="ru-RU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9" name="Рисунок 41">
            <a:extLst>
              <a:ext uri="{FF2B5EF4-FFF2-40B4-BE49-F238E27FC236}">
                <a16:creationId xmlns:a16="http://schemas.microsoft.com/office/drawing/2014/main" id="{F86BABE7-8823-44E4-AF52-78B1C86D08A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519" y="1125392"/>
            <a:ext cx="8052799" cy="4970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7885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FFAE91-68A3-4211-9588-924EC4128DDA}"/>
              </a:ext>
            </a:extLst>
          </p:cNvPr>
          <p:cNvSpPr txBox="1"/>
          <p:nvPr/>
        </p:nvSpPr>
        <p:spPr>
          <a:xfrm>
            <a:off x="650842" y="189547"/>
            <a:ext cx="8562732" cy="6354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железо-марганцевых конкреций Процесс компании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IOM </a:t>
            </a:r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ru-RU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Интерокеанметалл</a:t>
            </a:r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ru-RU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9697" name="Рисунок 85">
            <a:extLst>
              <a:ext uri="{FF2B5EF4-FFF2-40B4-BE49-F238E27FC236}">
                <a16:creationId xmlns:a16="http://schemas.microsoft.com/office/drawing/2014/main" id="{1B728DDA-A581-4307-A6F6-3FF97CE0C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151" y="1093001"/>
            <a:ext cx="8022103" cy="4906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A91C043-226F-4ED0-86EB-BBADF0201C24}"/>
              </a:ext>
            </a:extLst>
          </p:cNvPr>
          <p:cNvGrpSpPr/>
          <p:nvPr/>
        </p:nvGrpSpPr>
        <p:grpSpPr>
          <a:xfrm>
            <a:off x="8548254" y="959742"/>
            <a:ext cx="648000" cy="648000"/>
            <a:chOff x="1223648" y="4741784"/>
            <a:chExt cx="648000" cy="648000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5FA39B2A-7567-4717-94BB-C89C039827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648" y="4741784"/>
              <a:ext cx="648000" cy="648000"/>
            </a:xfrm>
            <a:prstGeom prst="ellipse">
              <a:avLst/>
            </a:prstGeom>
            <a:solidFill>
              <a:srgbClr val="0077C8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7725AF4A-96F9-4238-8153-3B9109069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20664" y="4824719"/>
              <a:ext cx="432000" cy="4320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A9B6298-F032-4FCC-8C6A-67BA5555E9EA}"/>
              </a:ext>
            </a:extLst>
          </p:cNvPr>
          <p:cNvSpPr txBox="1"/>
          <p:nvPr/>
        </p:nvSpPr>
        <p:spPr>
          <a:xfrm>
            <a:off x="9254405" y="824948"/>
            <a:ext cx="1917067" cy="2153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dirty="0"/>
              <a:t>Извлечение: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Cu &gt; 95%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Ni &gt; 95%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Co &gt; 95%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Mn -75%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0303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CD199C-FE03-4870-8BBE-FC153F9D4062}"/>
              </a:ext>
            </a:extLst>
          </p:cNvPr>
          <p:cNvSpPr txBox="1"/>
          <p:nvPr/>
        </p:nvSpPr>
        <p:spPr>
          <a:xfrm>
            <a:off x="690598" y="174688"/>
            <a:ext cx="8582611" cy="7397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железо-марганцевых конкреций Процесс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Kennecott Copper Corporation</a:t>
            </a:r>
            <a:endParaRPr lang="ru-RU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E9F2A6-5BB6-4A09-8374-2F856D712CF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881" y="914400"/>
            <a:ext cx="5221735" cy="52627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C1C79E-BCFA-4523-911B-DE75C3EC00DD}"/>
              </a:ext>
            </a:extLst>
          </p:cNvPr>
          <p:cNvSpPr txBox="1"/>
          <p:nvPr/>
        </p:nvSpPr>
        <p:spPr>
          <a:xfrm>
            <a:off x="6564900" y="1082679"/>
            <a:ext cx="4508937" cy="1376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dirty="0">
                <a:solidFill>
                  <a:srgbClr val="0077C8"/>
                </a:solidFill>
              </a:rPr>
              <a:t>Основан на аммиачном выщелачивании и</a:t>
            </a:r>
            <a:r>
              <a:rPr lang="en-US" dirty="0">
                <a:solidFill>
                  <a:srgbClr val="0077C8"/>
                </a:solidFill>
              </a:rPr>
              <a:t> </a:t>
            </a:r>
            <a:r>
              <a:rPr lang="ru-RU" dirty="0">
                <a:solidFill>
                  <a:srgbClr val="0077C8"/>
                </a:solidFill>
              </a:rPr>
              <a:t>восстановлении </a:t>
            </a:r>
            <a:r>
              <a:rPr lang="en-US" dirty="0">
                <a:solidFill>
                  <a:srgbClr val="0077C8"/>
                </a:solidFill>
              </a:rPr>
              <a:t>Mn </a:t>
            </a:r>
            <a:r>
              <a:rPr lang="ru-RU" dirty="0">
                <a:solidFill>
                  <a:srgbClr val="0077C8"/>
                </a:solidFill>
              </a:rPr>
              <a:t>ионами </a:t>
            </a:r>
            <a:r>
              <a:rPr lang="en-US" dirty="0">
                <a:solidFill>
                  <a:srgbClr val="0077C8"/>
                </a:solidFill>
              </a:rPr>
              <a:t>Cu</a:t>
            </a:r>
            <a:endParaRPr lang="ru-RU" dirty="0">
              <a:solidFill>
                <a:srgbClr val="0077C8"/>
              </a:solidFill>
            </a:endParaRP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934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B952E2-AD07-48FE-9D94-61A13BD886DB}"/>
              </a:ext>
            </a:extLst>
          </p:cNvPr>
          <p:cNvSpPr txBox="1"/>
          <p:nvPr/>
        </p:nvSpPr>
        <p:spPr>
          <a:xfrm>
            <a:off x="720415" y="174688"/>
            <a:ext cx="8741637" cy="6884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железо-марганцевых конкреций Процесс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Hoboken 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Overpelt</a:t>
            </a:r>
            <a:endParaRPr lang="ru-RU" sz="1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39E337-AFAA-447B-8F44-66B799F308F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15" y="866994"/>
            <a:ext cx="5600542" cy="53714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1C14D9-A788-4E82-82B8-5E8B71ED17AB}"/>
              </a:ext>
            </a:extLst>
          </p:cNvPr>
          <p:cNvSpPr txBox="1"/>
          <p:nvPr/>
        </p:nvSpPr>
        <p:spPr>
          <a:xfrm>
            <a:off x="6637284" y="1439803"/>
            <a:ext cx="4508937" cy="1999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dirty="0">
                <a:solidFill>
                  <a:srgbClr val="0077C8"/>
                </a:solidFill>
              </a:rPr>
              <a:t>Основан на </a:t>
            </a:r>
            <a:r>
              <a:rPr lang="ru-RU" dirty="0" err="1">
                <a:solidFill>
                  <a:srgbClr val="0077C8"/>
                </a:solidFill>
              </a:rPr>
              <a:t>соляноислом</a:t>
            </a:r>
            <a:r>
              <a:rPr lang="ru-RU" dirty="0">
                <a:solidFill>
                  <a:srgbClr val="0077C8"/>
                </a:solidFill>
              </a:rPr>
              <a:t> выщелачивании с экстракцией железа  </a:t>
            </a:r>
            <a:r>
              <a:rPr lang="en-US" dirty="0">
                <a:solidFill>
                  <a:srgbClr val="0077C8"/>
                </a:solidFill>
              </a:rPr>
              <a:t>Fe </a:t>
            </a:r>
            <a:r>
              <a:rPr lang="ru-RU" dirty="0">
                <a:solidFill>
                  <a:srgbClr val="0077C8"/>
                </a:solidFill>
              </a:rPr>
              <a:t>и последовательным восстановлением раствора </a:t>
            </a:r>
            <a:r>
              <a:rPr lang="en-US" dirty="0">
                <a:solidFill>
                  <a:srgbClr val="0077C8"/>
                </a:solidFill>
              </a:rPr>
              <a:t>H</a:t>
            </a:r>
            <a:r>
              <a:rPr lang="en-US" baseline="-25000" dirty="0">
                <a:solidFill>
                  <a:srgbClr val="0077C8"/>
                </a:solidFill>
              </a:rPr>
              <a:t>2</a:t>
            </a:r>
            <a:r>
              <a:rPr lang="en-US" dirty="0">
                <a:solidFill>
                  <a:srgbClr val="0077C8"/>
                </a:solidFill>
              </a:rPr>
              <a:t>S c </a:t>
            </a:r>
            <a:r>
              <a:rPr lang="ru-RU" dirty="0">
                <a:solidFill>
                  <a:srgbClr val="0077C8"/>
                </a:solidFill>
              </a:rPr>
              <a:t>осаждением сульфидов </a:t>
            </a:r>
            <a:r>
              <a:rPr lang="en-US" dirty="0">
                <a:solidFill>
                  <a:srgbClr val="0077C8"/>
                </a:solidFill>
              </a:rPr>
              <a:t>Cu,, Ni, Co/</a:t>
            </a:r>
            <a:endParaRPr lang="ru-RU" dirty="0">
              <a:solidFill>
                <a:srgbClr val="0077C8"/>
              </a:solidFill>
            </a:endParaRP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4946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41738B-96B4-49BF-9416-6BA4ABE481A5}"/>
              </a:ext>
            </a:extLst>
          </p:cNvPr>
          <p:cNvSpPr txBox="1"/>
          <p:nvPr/>
        </p:nvSpPr>
        <p:spPr>
          <a:xfrm>
            <a:off x="765904" y="164748"/>
            <a:ext cx="8443463" cy="749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железо-марганцевых конкреций Процесс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CSIR-IMMT</a:t>
            </a:r>
            <a:endParaRPr lang="ru-RU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7C8374-6F27-42B2-87D9-DC29537BF21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55" y="914400"/>
            <a:ext cx="7204363" cy="5264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DFDBF4-8CDD-4D45-993F-04A1DF53827E}"/>
              </a:ext>
            </a:extLst>
          </p:cNvPr>
          <p:cNvSpPr txBox="1"/>
          <p:nvPr/>
        </p:nvSpPr>
        <p:spPr>
          <a:xfrm>
            <a:off x="7557765" y="1040524"/>
            <a:ext cx="3805068" cy="2895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dirty="0">
                <a:solidFill>
                  <a:srgbClr val="0077C8"/>
                </a:solidFill>
              </a:rPr>
              <a:t>Основан на автоклавном аммиачном выщелачивании с использованием в качестве восстановителя </a:t>
            </a:r>
            <a:r>
              <a:rPr lang="en-US" dirty="0">
                <a:solidFill>
                  <a:srgbClr val="0077C8"/>
                </a:solidFill>
              </a:rPr>
              <a:t>SO</a:t>
            </a:r>
            <a:r>
              <a:rPr lang="ru-RU" baseline="-25000" dirty="0">
                <a:solidFill>
                  <a:srgbClr val="0077C8"/>
                </a:solidFill>
              </a:rPr>
              <a:t>2</a:t>
            </a:r>
            <a:r>
              <a:rPr lang="ru-RU" dirty="0">
                <a:solidFill>
                  <a:srgbClr val="0077C8"/>
                </a:solidFill>
              </a:rPr>
              <a:t>, пирометаллургической переработкой осадка </a:t>
            </a:r>
            <a:r>
              <a:rPr lang="en-US" dirty="0">
                <a:solidFill>
                  <a:srgbClr val="0077C8"/>
                </a:solidFill>
              </a:rPr>
              <a:t>Fe-Mn</a:t>
            </a:r>
            <a:r>
              <a:rPr lang="ru-RU" dirty="0">
                <a:solidFill>
                  <a:srgbClr val="0077C8"/>
                </a:solidFill>
              </a:rPr>
              <a:t>, экстракций кобальта и осаждением </a:t>
            </a:r>
            <a:r>
              <a:rPr lang="en-US" dirty="0">
                <a:solidFill>
                  <a:srgbClr val="0077C8"/>
                </a:solidFill>
              </a:rPr>
              <a:t>H</a:t>
            </a:r>
            <a:r>
              <a:rPr lang="en-US" baseline="-25000" dirty="0">
                <a:solidFill>
                  <a:srgbClr val="0077C8"/>
                </a:solidFill>
              </a:rPr>
              <a:t>2</a:t>
            </a:r>
            <a:r>
              <a:rPr lang="en-US" dirty="0">
                <a:solidFill>
                  <a:srgbClr val="0077C8"/>
                </a:solidFill>
              </a:rPr>
              <a:t>S </a:t>
            </a:r>
            <a:r>
              <a:rPr lang="ru-RU" dirty="0">
                <a:solidFill>
                  <a:srgbClr val="0077C8"/>
                </a:solidFill>
              </a:rPr>
              <a:t>меди и никеля.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7378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353A73-CBA8-42C2-B695-2CCC52EE2D6E}"/>
              </a:ext>
            </a:extLst>
          </p:cNvPr>
          <p:cNvSpPr txBox="1"/>
          <p:nvPr/>
        </p:nvSpPr>
        <p:spPr>
          <a:xfrm>
            <a:off x="794940" y="144870"/>
            <a:ext cx="8453402" cy="6788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железо-марганцевых конкреций 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Процесс компании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HZL</a:t>
            </a:r>
            <a:endParaRPr lang="ru-RU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911E88-1349-4FBC-9187-645569850D3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50" y="896222"/>
            <a:ext cx="6470072" cy="53894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78EC9C8-F672-42F5-857E-0A644E3A311E}"/>
              </a:ext>
            </a:extLst>
          </p:cNvPr>
          <p:cNvGrpSpPr/>
          <p:nvPr/>
        </p:nvGrpSpPr>
        <p:grpSpPr>
          <a:xfrm>
            <a:off x="7343572" y="4056564"/>
            <a:ext cx="518441" cy="506066"/>
            <a:chOff x="1223648" y="4741784"/>
            <a:chExt cx="648000" cy="648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898A61B3-508F-493C-B4FC-C120A1393A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648" y="4741784"/>
              <a:ext cx="648000" cy="648000"/>
            </a:xfrm>
            <a:prstGeom prst="ellipse">
              <a:avLst/>
            </a:prstGeom>
            <a:solidFill>
              <a:srgbClr val="0077C8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D4A01EE6-3C6D-4B0D-8513-FA2A8F541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20664" y="4824719"/>
              <a:ext cx="432000" cy="4320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15B0F97-B36B-4B4F-9A55-421EE27F6A48}"/>
              </a:ext>
            </a:extLst>
          </p:cNvPr>
          <p:cNvSpPr txBox="1"/>
          <p:nvPr/>
        </p:nvSpPr>
        <p:spPr>
          <a:xfrm>
            <a:off x="8096043" y="3883928"/>
            <a:ext cx="2304598" cy="180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dirty="0"/>
              <a:t>Извлечение: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Cu – 92-95%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Ni -  90-95%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Co – 75-80%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BB040-D3D1-4945-8C9B-DFA2AAF59D37}"/>
              </a:ext>
            </a:extLst>
          </p:cNvPr>
          <p:cNvSpPr txBox="1"/>
          <p:nvPr/>
        </p:nvSpPr>
        <p:spPr>
          <a:xfrm>
            <a:off x="6874772" y="1069410"/>
            <a:ext cx="4374732" cy="1961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dirty="0">
                <a:solidFill>
                  <a:srgbClr val="0077C8"/>
                </a:solidFill>
              </a:rPr>
              <a:t>Основан на сернокислотном выщелачивании, атмосферном и автоклавном. Цветные металлы разделяют экстракцией, медь и никель получают </a:t>
            </a:r>
            <a:r>
              <a:rPr lang="ru-RU" dirty="0" err="1">
                <a:solidFill>
                  <a:srgbClr val="0077C8"/>
                </a:solidFill>
              </a:rPr>
              <a:t>электроэ-кстракцией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7222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A86DF9-C902-49DB-932B-260ECB5ED031}"/>
              </a:ext>
            </a:extLst>
          </p:cNvPr>
          <p:cNvSpPr txBox="1"/>
          <p:nvPr/>
        </p:nvSpPr>
        <p:spPr>
          <a:xfrm>
            <a:off x="765904" y="164748"/>
            <a:ext cx="8443463" cy="749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железо-марганцевых конкреций Процесс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CSIR-NML</a:t>
            </a:r>
            <a:endParaRPr lang="ru-RU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C185C5-4643-4788-8A39-BC8C90E0110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58" y="914400"/>
            <a:ext cx="5787298" cy="440574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71EE54-FCDF-4B30-9289-60252DE0EFEC}"/>
              </a:ext>
            </a:extLst>
          </p:cNvPr>
          <p:cNvSpPr txBox="1"/>
          <p:nvPr/>
        </p:nvSpPr>
        <p:spPr>
          <a:xfrm>
            <a:off x="1122958" y="5460948"/>
            <a:ext cx="4988056" cy="1103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dirty="0"/>
              <a:t>Извлечение: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Cu – 92,5%</a:t>
            </a:r>
            <a:r>
              <a:rPr lang="ru-RU" dirty="0"/>
              <a:t>; </a:t>
            </a:r>
            <a:r>
              <a:rPr lang="en-US" dirty="0"/>
              <a:t>Ni -  91,5%</a:t>
            </a:r>
            <a:r>
              <a:rPr lang="ru-RU" dirty="0"/>
              <a:t>; </a:t>
            </a:r>
            <a:r>
              <a:rPr lang="en-US" dirty="0"/>
              <a:t>Co – 71,3%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95917E8E-0EBD-465D-9D0D-8EE2C819F858}"/>
              </a:ext>
            </a:extLst>
          </p:cNvPr>
          <p:cNvGrpSpPr/>
          <p:nvPr/>
        </p:nvGrpSpPr>
        <p:grpSpPr>
          <a:xfrm>
            <a:off x="474958" y="5497895"/>
            <a:ext cx="648000" cy="648000"/>
            <a:chOff x="1223648" y="4741784"/>
            <a:chExt cx="648000" cy="648000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823879FF-BDE2-4595-96AD-25AAC1C970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648" y="4741784"/>
              <a:ext cx="648000" cy="648000"/>
            </a:xfrm>
            <a:prstGeom prst="ellipse">
              <a:avLst/>
            </a:prstGeom>
            <a:solidFill>
              <a:srgbClr val="0077C8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69BF38B0-6CDF-4112-8CE3-DBCA9B2A7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20664" y="4824719"/>
              <a:ext cx="432000" cy="432000"/>
            </a:xfrm>
            <a:prstGeom prst="rect">
              <a:avLst/>
            </a:prstGeom>
          </p:spPr>
        </p:pic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0DAC36-3400-41D6-8DAA-AEA17A5DE24C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014" y="1609146"/>
            <a:ext cx="4420896" cy="46513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6305DC-4367-4C90-893B-A60C2CFB5203}"/>
              </a:ext>
            </a:extLst>
          </p:cNvPr>
          <p:cNvSpPr txBox="1"/>
          <p:nvPr/>
        </p:nvSpPr>
        <p:spPr>
          <a:xfrm>
            <a:off x="6624634" y="539574"/>
            <a:ext cx="4374732" cy="1026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dirty="0">
                <a:solidFill>
                  <a:srgbClr val="0077C8"/>
                </a:solidFill>
              </a:rPr>
              <a:t>Основан на восстановительном обжиге с последующим аммиачным выщелачиванием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7177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AEB233-423C-4563-9E34-81C2C92B6E20}"/>
              </a:ext>
            </a:extLst>
          </p:cNvPr>
          <p:cNvSpPr txBox="1"/>
          <p:nvPr/>
        </p:nvSpPr>
        <p:spPr>
          <a:xfrm>
            <a:off x="182580" y="146149"/>
            <a:ext cx="8443463" cy="749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железо-марганцевых конкреций Альтернативный процесс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CSIR-NML</a:t>
            </a:r>
            <a:endParaRPr lang="ru-RU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2D67D5-A1C4-401C-BDD2-43E82E5E6D7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09" y="921493"/>
            <a:ext cx="6010837" cy="49643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1E4B50-E898-43E6-9379-1C1C02EC3C27}"/>
              </a:ext>
            </a:extLst>
          </p:cNvPr>
          <p:cNvSpPr txBox="1"/>
          <p:nvPr/>
        </p:nvSpPr>
        <p:spPr>
          <a:xfrm>
            <a:off x="7617112" y="3361081"/>
            <a:ext cx="3184510" cy="180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dirty="0"/>
              <a:t>Извлечение в раствор: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Cu – 9</a:t>
            </a:r>
            <a:r>
              <a:rPr lang="ru-RU" dirty="0"/>
              <a:t>7</a:t>
            </a:r>
            <a:r>
              <a:rPr lang="en-US" dirty="0"/>
              <a:t>%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Ni -  9</a:t>
            </a:r>
            <a:r>
              <a:rPr lang="ru-RU" dirty="0"/>
              <a:t>8</a:t>
            </a:r>
            <a:r>
              <a:rPr lang="en-US" dirty="0"/>
              <a:t>%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Co – </a:t>
            </a:r>
            <a:r>
              <a:rPr lang="ru-RU" dirty="0"/>
              <a:t>99</a:t>
            </a:r>
            <a:r>
              <a:rPr lang="en-US" dirty="0"/>
              <a:t>%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endParaRPr lang="ru-RU" dirty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2D82B470-4C9F-46B2-94D3-12981771A949}"/>
              </a:ext>
            </a:extLst>
          </p:cNvPr>
          <p:cNvGrpSpPr/>
          <p:nvPr/>
        </p:nvGrpSpPr>
        <p:grpSpPr>
          <a:xfrm>
            <a:off x="6840010" y="3396557"/>
            <a:ext cx="648000" cy="648000"/>
            <a:chOff x="1223648" y="4741784"/>
            <a:chExt cx="648000" cy="648000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59AAD017-15FA-43CF-B6C1-3F3269A9E7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648" y="4741784"/>
              <a:ext cx="648000" cy="648000"/>
            </a:xfrm>
            <a:prstGeom prst="ellipse">
              <a:avLst/>
            </a:prstGeom>
            <a:solidFill>
              <a:srgbClr val="0077C8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7C459ACD-280E-436C-B7FA-5CFDA1905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20664" y="4824719"/>
              <a:ext cx="432000" cy="43200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EC64BFA-E9AF-4D38-A298-9DDFA33678C9}"/>
              </a:ext>
            </a:extLst>
          </p:cNvPr>
          <p:cNvSpPr txBox="1"/>
          <p:nvPr/>
        </p:nvSpPr>
        <p:spPr>
          <a:xfrm>
            <a:off x="6525012" y="1170755"/>
            <a:ext cx="4784004" cy="1649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dirty="0">
                <a:solidFill>
                  <a:srgbClr val="0077C8"/>
                </a:solidFill>
              </a:rPr>
              <a:t>Основан на плавке с получением сплава </a:t>
            </a:r>
            <a:r>
              <a:rPr lang="en-US" dirty="0">
                <a:solidFill>
                  <a:srgbClr val="0077C8"/>
                </a:solidFill>
              </a:rPr>
              <a:t>Cu-Ni-Co-Fe-Mn c </a:t>
            </a:r>
            <a:r>
              <a:rPr lang="ru-RU" dirty="0">
                <a:solidFill>
                  <a:srgbClr val="0077C8"/>
                </a:solidFill>
              </a:rPr>
              <a:t>последующим его окислением, </a:t>
            </a:r>
            <a:r>
              <a:rPr lang="ru-RU" dirty="0" err="1">
                <a:solidFill>
                  <a:srgbClr val="0077C8"/>
                </a:solidFill>
              </a:rPr>
              <a:t>сульфидированием</a:t>
            </a:r>
            <a:r>
              <a:rPr lang="ru-RU" dirty="0">
                <a:solidFill>
                  <a:srgbClr val="0077C8"/>
                </a:solidFill>
              </a:rPr>
              <a:t> и  сернокислотным выщелачиванием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1833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D23914-1B3F-46DA-818A-375A01928E3F}"/>
              </a:ext>
            </a:extLst>
          </p:cNvPr>
          <p:cNvSpPr txBox="1"/>
          <p:nvPr/>
        </p:nvSpPr>
        <p:spPr>
          <a:xfrm>
            <a:off x="765904" y="164748"/>
            <a:ext cx="8443463" cy="749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железо-марганцевых конкреций   Процесс ЦНИГРИ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F3E46B-9CFF-4674-BB28-CC3F418E2C6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82" y="882869"/>
            <a:ext cx="5253592" cy="54444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59A022-CDBF-4293-91C5-6F916D1137CB}"/>
              </a:ext>
            </a:extLst>
          </p:cNvPr>
          <p:cNvSpPr txBox="1"/>
          <p:nvPr/>
        </p:nvSpPr>
        <p:spPr>
          <a:xfrm>
            <a:off x="7465563" y="3233406"/>
            <a:ext cx="3559879" cy="2153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dirty="0"/>
              <a:t>Извлечение в концентрат: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Cu – </a:t>
            </a:r>
            <a:r>
              <a:rPr lang="ru-RU" dirty="0"/>
              <a:t>89-90</a:t>
            </a:r>
            <a:r>
              <a:rPr lang="en-US" dirty="0"/>
              <a:t>%</a:t>
            </a:r>
            <a:r>
              <a:rPr lang="ru-RU" dirty="0"/>
              <a:t>;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Ni -  93</a:t>
            </a:r>
            <a:r>
              <a:rPr lang="ru-RU" dirty="0"/>
              <a:t>-9</a:t>
            </a:r>
            <a:r>
              <a:rPr lang="en-US" dirty="0"/>
              <a:t>4%</a:t>
            </a:r>
            <a:r>
              <a:rPr lang="ru-RU" dirty="0"/>
              <a:t>;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Co – </a:t>
            </a:r>
            <a:r>
              <a:rPr lang="ru-RU" dirty="0"/>
              <a:t>93-94</a:t>
            </a:r>
            <a:r>
              <a:rPr lang="en-US" dirty="0"/>
              <a:t>%</a:t>
            </a:r>
            <a:r>
              <a:rPr lang="ru-RU" dirty="0"/>
              <a:t>;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Mn - 97-98%</a:t>
            </a:r>
            <a:r>
              <a:rPr lang="ru-RU" dirty="0"/>
              <a:t>.</a:t>
            </a:r>
            <a:endParaRPr lang="en-US" dirty="0"/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73AC2D75-C40D-460A-86F9-33D2F1EEC74A}"/>
              </a:ext>
            </a:extLst>
          </p:cNvPr>
          <p:cNvGrpSpPr/>
          <p:nvPr/>
        </p:nvGrpSpPr>
        <p:grpSpPr>
          <a:xfrm>
            <a:off x="6720547" y="3335609"/>
            <a:ext cx="648000" cy="648000"/>
            <a:chOff x="1223648" y="4741784"/>
            <a:chExt cx="648000" cy="648000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399BA8DD-CDCD-463C-BF1A-4BA4530B91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648" y="4741784"/>
              <a:ext cx="648000" cy="648000"/>
            </a:xfrm>
            <a:prstGeom prst="ellipse">
              <a:avLst/>
            </a:prstGeom>
            <a:solidFill>
              <a:srgbClr val="0077C8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6B9B3884-3ECE-4608-8975-875E83043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20664" y="4824719"/>
              <a:ext cx="432000" cy="4320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9710750-835E-4C90-ACE5-8E1FD4C3D469}"/>
              </a:ext>
            </a:extLst>
          </p:cNvPr>
          <p:cNvSpPr txBox="1"/>
          <p:nvPr/>
        </p:nvSpPr>
        <p:spPr>
          <a:xfrm>
            <a:off x="6446184" y="914400"/>
            <a:ext cx="4784004" cy="1649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dirty="0">
                <a:solidFill>
                  <a:srgbClr val="0077C8"/>
                </a:solidFill>
              </a:rPr>
              <a:t>Основан на </a:t>
            </a:r>
            <a:r>
              <a:rPr lang="ru-RU" dirty="0" err="1">
                <a:solidFill>
                  <a:srgbClr val="0077C8"/>
                </a:solidFill>
              </a:rPr>
              <a:t>серноки</a:t>
            </a:r>
            <a:r>
              <a:rPr lang="en-US" dirty="0">
                <a:solidFill>
                  <a:srgbClr val="0077C8"/>
                </a:solidFill>
              </a:rPr>
              <a:t>c</a:t>
            </a:r>
            <a:r>
              <a:rPr lang="ru-RU" dirty="0" err="1">
                <a:solidFill>
                  <a:srgbClr val="0077C8"/>
                </a:solidFill>
              </a:rPr>
              <a:t>лотном</a:t>
            </a:r>
            <a:r>
              <a:rPr lang="ru-RU" dirty="0">
                <a:solidFill>
                  <a:srgbClr val="0077C8"/>
                </a:solidFill>
              </a:rPr>
              <a:t> выщелачивании в присутствии </a:t>
            </a:r>
            <a:r>
              <a:rPr lang="en-US" dirty="0">
                <a:solidFill>
                  <a:srgbClr val="0077C8"/>
                </a:solidFill>
              </a:rPr>
              <a:t>SO</a:t>
            </a:r>
            <a:r>
              <a:rPr lang="en-US" baseline="-25000" dirty="0">
                <a:solidFill>
                  <a:srgbClr val="0077C8"/>
                </a:solidFill>
              </a:rPr>
              <a:t>2</a:t>
            </a:r>
            <a:r>
              <a:rPr lang="ru-RU" dirty="0">
                <a:solidFill>
                  <a:srgbClr val="0077C8"/>
                </a:solidFill>
              </a:rPr>
              <a:t>, последовательно осаждая медный, никель-кобальтовый и марганцевый концентраты.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5922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1199EB-DDFF-4252-823F-E32EDC4ED397}"/>
              </a:ext>
            </a:extLst>
          </p:cNvPr>
          <p:cNvSpPr txBox="1"/>
          <p:nvPr/>
        </p:nvSpPr>
        <p:spPr>
          <a:xfrm>
            <a:off x="294849" y="150893"/>
            <a:ext cx="10497842" cy="749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железо-марганцевых конкреций  </a:t>
            </a:r>
          </a:p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Процесс, разработанный совместно Горный университет + </a:t>
            </a:r>
            <a:r>
              <a:rPr lang="ru-RU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Гипроникель</a:t>
            </a:r>
            <a:endParaRPr lang="ru-RU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08AB41-F3E2-4211-BE58-136F4DCB3F3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64" y="1136200"/>
            <a:ext cx="6715551" cy="47599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9BF3025-3031-4842-97F2-16A2C997FF8D}"/>
              </a:ext>
            </a:extLst>
          </p:cNvPr>
          <p:cNvGrpSpPr/>
          <p:nvPr/>
        </p:nvGrpSpPr>
        <p:grpSpPr>
          <a:xfrm>
            <a:off x="7191668" y="3516195"/>
            <a:ext cx="648000" cy="648000"/>
            <a:chOff x="1223648" y="4741784"/>
            <a:chExt cx="648000" cy="648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109928E9-C737-41FD-A5C1-73CBDC05E2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648" y="4741784"/>
              <a:ext cx="648000" cy="648000"/>
            </a:xfrm>
            <a:prstGeom prst="ellipse">
              <a:avLst/>
            </a:prstGeom>
            <a:solidFill>
              <a:srgbClr val="0077C8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EA48D9E6-1B10-4B38-B233-86EE3CFCC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20664" y="4824719"/>
              <a:ext cx="432000" cy="43200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72F179E-7FF5-4E62-A2B6-A5877B9D0343}"/>
              </a:ext>
            </a:extLst>
          </p:cNvPr>
          <p:cNvSpPr txBox="1"/>
          <p:nvPr/>
        </p:nvSpPr>
        <p:spPr>
          <a:xfrm>
            <a:off x="7839668" y="3511353"/>
            <a:ext cx="3559879" cy="2153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dirty="0"/>
              <a:t>Извлечение в концентрат: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Cu – </a:t>
            </a:r>
            <a:r>
              <a:rPr lang="ru-RU" dirty="0"/>
              <a:t>95</a:t>
            </a:r>
            <a:r>
              <a:rPr lang="en-US" dirty="0"/>
              <a:t>%</a:t>
            </a:r>
            <a:r>
              <a:rPr lang="ru-RU" dirty="0"/>
              <a:t>;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Ni -  </a:t>
            </a:r>
            <a:r>
              <a:rPr lang="ru-RU" dirty="0"/>
              <a:t>86</a:t>
            </a:r>
            <a:r>
              <a:rPr lang="en-US" dirty="0"/>
              <a:t>%</a:t>
            </a:r>
            <a:r>
              <a:rPr lang="ru-RU" dirty="0"/>
              <a:t>;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Co – </a:t>
            </a:r>
            <a:r>
              <a:rPr lang="ru-RU" dirty="0"/>
              <a:t>88</a:t>
            </a:r>
            <a:r>
              <a:rPr lang="en-US" dirty="0"/>
              <a:t>%</a:t>
            </a:r>
            <a:r>
              <a:rPr lang="ru-RU" dirty="0"/>
              <a:t>;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Mn – 9</a:t>
            </a:r>
            <a:r>
              <a:rPr lang="ru-RU" dirty="0"/>
              <a:t>9,5</a:t>
            </a:r>
            <a:r>
              <a:rPr lang="en-US" dirty="0"/>
              <a:t>%</a:t>
            </a:r>
            <a:r>
              <a:rPr lang="ru-RU" dirty="0"/>
              <a:t>.</a:t>
            </a:r>
            <a:endParaRPr lang="en-US" dirty="0"/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08306-8DAE-4EBD-BD0C-1DCA1824FAA0}"/>
              </a:ext>
            </a:extLst>
          </p:cNvPr>
          <p:cNvSpPr txBox="1"/>
          <p:nvPr/>
        </p:nvSpPr>
        <p:spPr>
          <a:xfrm>
            <a:off x="7010399" y="1136200"/>
            <a:ext cx="4215241" cy="1961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>
              <a:spcBef>
                <a:spcPts val="300"/>
              </a:spcBef>
              <a:buClr>
                <a:srgbClr val="0077C8"/>
              </a:buClr>
            </a:pPr>
            <a:r>
              <a:rPr lang="ru-RU" dirty="0">
                <a:solidFill>
                  <a:srgbClr val="0077C8"/>
                </a:solidFill>
              </a:rPr>
              <a:t>Основан на </a:t>
            </a:r>
            <a:r>
              <a:rPr lang="ru-RU" dirty="0" err="1">
                <a:solidFill>
                  <a:srgbClr val="0077C8"/>
                </a:solidFill>
              </a:rPr>
              <a:t>сульфатизирующем</a:t>
            </a:r>
            <a:r>
              <a:rPr lang="ru-RU" dirty="0">
                <a:solidFill>
                  <a:srgbClr val="0077C8"/>
                </a:solidFill>
              </a:rPr>
              <a:t> обжиге с добавлением пирита с последующим водным выщелачиванием и последовательным осаждением железа аммиаком.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8921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2F79C9-1DBE-4BA7-89D6-723D94CC006D}"/>
              </a:ext>
            </a:extLst>
          </p:cNvPr>
          <p:cNvSpPr txBox="1"/>
          <p:nvPr/>
        </p:nvSpPr>
        <p:spPr>
          <a:xfrm>
            <a:off x="294849" y="150893"/>
            <a:ext cx="10497842" cy="749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железо-марганцевых конкреций  </a:t>
            </a:r>
          </a:p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Процесс компаний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TMC </a:t>
            </a:r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SGS</a:t>
            </a:r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CC5345-FAFF-4379-A5CA-5485E03C053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25" y="1052849"/>
            <a:ext cx="8502310" cy="482589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2D70CB-4D7A-4465-8E14-96A504A41412}"/>
              </a:ext>
            </a:extLst>
          </p:cNvPr>
          <p:cNvSpPr txBox="1"/>
          <p:nvPr/>
        </p:nvSpPr>
        <p:spPr>
          <a:xfrm>
            <a:off x="8833899" y="3465797"/>
            <a:ext cx="2517864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 algn="just">
              <a:spcBef>
                <a:spcPts val="300"/>
              </a:spcBef>
              <a:buClr>
                <a:srgbClr val="0077C8"/>
              </a:buClr>
              <a:buFont typeface="Wingdings" panose="05000000000000000000" pitchFamily="2" charset="2"/>
              <a:buChar char="v"/>
            </a:pPr>
            <a:r>
              <a:rPr lang="ru-RU" sz="1800" dirty="0">
                <a:solidFill>
                  <a:srgbClr val="0077C8"/>
                </a:solidFill>
              </a:rPr>
              <a:t>Получен первый сульфат </a:t>
            </a:r>
            <a:r>
              <a:rPr lang="en-US" sz="1800" dirty="0">
                <a:solidFill>
                  <a:srgbClr val="0077C8"/>
                </a:solidFill>
              </a:rPr>
              <a:t>Ni – </a:t>
            </a:r>
            <a:r>
              <a:rPr lang="ru-RU" sz="1800" dirty="0">
                <a:solidFill>
                  <a:srgbClr val="0077C8"/>
                </a:solidFill>
              </a:rPr>
              <a:t>2024 г</a:t>
            </a:r>
          </a:p>
          <a:p>
            <a:pPr indent="-342900" algn="just">
              <a:spcBef>
                <a:spcPts val="300"/>
              </a:spcBef>
              <a:buClr>
                <a:srgbClr val="0077C8"/>
              </a:buClr>
              <a:buFont typeface="Wingdings" panose="05000000000000000000" pitchFamily="2" charset="2"/>
              <a:buChar char="v"/>
            </a:pPr>
            <a:endParaRPr lang="ru-RU" sz="1800" dirty="0">
              <a:solidFill>
                <a:srgbClr val="0077C8"/>
              </a:solidFill>
            </a:endParaRPr>
          </a:p>
          <a:p>
            <a:pPr indent="-342900" algn="just">
              <a:spcBef>
                <a:spcPts val="300"/>
              </a:spcBef>
              <a:buClr>
                <a:srgbClr val="0077C8"/>
              </a:buClr>
              <a:buFont typeface="Wingdings" panose="05000000000000000000" pitchFamily="2" charset="2"/>
              <a:buChar char="v"/>
            </a:pPr>
            <a:r>
              <a:rPr lang="ru-RU" sz="1800" dirty="0">
                <a:solidFill>
                  <a:srgbClr val="0077C8"/>
                </a:solidFill>
              </a:rPr>
              <a:t>Коммерческая реализация – конец 2025 г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19131E-9FBE-4B61-9791-342224FA279E}"/>
              </a:ext>
            </a:extLst>
          </p:cNvPr>
          <p:cNvSpPr txBox="1"/>
          <p:nvPr/>
        </p:nvSpPr>
        <p:spPr>
          <a:xfrm>
            <a:off x="8833899" y="1000467"/>
            <a:ext cx="26053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buClr>
                <a:srgbClr val="0077C8"/>
              </a:buClr>
            </a:pPr>
            <a:r>
              <a:rPr lang="ru-RU" sz="1800" dirty="0">
                <a:solidFill>
                  <a:srgbClr val="0077C8"/>
                </a:solidFill>
              </a:rPr>
              <a:t>Основан на плавке с последующим аммиачно-сульфатным выщелачиванием сульфидного сплава</a:t>
            </a:r>
          </a:p>
        </p:txBody>
      </p:sp>
    </p:spTree>
    <p:extLst>
      <p:ext uri="{BB962C8B-B14F-4D97-AF65-F5344CB8AC3E}">
        <p14:creationId xmlns:p14="http://schemas.microsoft.com/office/powerpoint/2010/main" val="3855310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885F7-6EAD-4CF2-93C0-E97164B90E62}"/>
              </a:ext>
            </a:extLst>
          </p:cNvPr>
          <p:cNvSpPr txBox="1"/>
          <p:nvPr/>
        </p:nvSpPr>
        <p:spPr>
          <a:xfrm>
            <a:off x="437330" y="757294"/>
            <a:ext cx="4796822" cy="9926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Переработка кобальт-марганцевых корок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4ADE62-D849-467C-A8E8-35296FA2480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372" y="2743200"/>
            <a:ext cx="3015318" cy="3137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FC3E418-0E08-412F-8660-E1ACB8081CB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69"/>
          <a:stretch/>
        </p:blipFill>
        <p:spPr bwMode="auto">
          <a:xfrm>
            <a:off x="5760244" y="504498"/>
            <a:ext cx="5760244" cy="59762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3442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Fig_ShemaZNIGRI">
            <a:extLst>
              <a:ext uri="{FF2B5EF4-FFF2-40B4-BE49-F238E27FC236}">
                <a16:creationId xmlns:a16="http://schemas.microsoft.com/office/drawing/2014/main" id="{9F27CD06-7815-4EF4-A2C5-6A3F3C0CBC7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42" y="921756"/>
            <a:ext cx="3744452" cy="536791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F26A53-0105-4D4C-BC2B-5B3DD432C20B}"/>
              </a:ext>
            </a:extLst>
          </p:cNvPr>
          <p:cNvSpPr txBox="1"/>
          <p:nvPr/>
        </p:nvSpPr>
        <p:spPr>
          <a:xfrm>
            <a:off x="874643" y="148010"/>
            <a:ext cx="8443463" cy="749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кобальт-марганцевых корок   Процесс ЦНИГРИ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36BA224-0896-4ABA-A655-CE52BD372CA8}"/>
              </a:ext>
            </a:extLst>
          </p:cNvPr>
          <p:cNvGrpSpPr/>
          <p:nvPr/>
        </p:nvGrpSpPr>
        <p:grpSpPr>
          <a:xfrm>
            <a:off x="5365062" y="3606335"/>
            <a:ext cx="648000" cy="648000"/>
            <a:chOff x="1223648" y="4741784"/>
            <a:chExt cx="648000" cy="648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FA6F18C1-A81A-4FF2-B974-8BA856B464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648" y="4741784"/>
              <a:ext cx="648000" cy="648000"/>
            </a:xfrm>
            <a:prstGeom prst="ellipse">
              <a:avLst/>
            </a:prstGeom>
            <a:solidFill>
              <a:srgbClr val="0077C8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CEEA105D-C1CF-4FB6-AC34-1E520EB24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20664" y="4824719"/>
              <a:ext cx="432000" cy="43200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10156D6-AE97-4F6B-B72E-6CA5A9A7D3EE}"/>
              </a:ext>
            </a:extLst>
          </p:cNvPr>
          <p:cNvSpPr txBox="1"/>
          <p:nvPr/>
        </p:nvSpPr>
        <p:spPr>
          <a:xfrm>
            <a:off x="6110078" y="3478059"/>
            <a:ext cx="4251514" cy="180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dirty="0"/>
              <a:t>Извлечение в тов. продукцию: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Ni -  </a:t>
            </a:r>
            <a:r>
              <a:rPr lang="ru-RU" dirty="0"/>
              <a:t>83</a:t>
            </a:r>
            <a:r>
              <a:rPr lang="en-US" dirty="0"/>
              <a:t>%</a:t>
            </a:r>
            <a:r>
              <a:rPr lang="ru-RU" dirty="0"/>
              <a:t>;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Co – </a:t>
            </a:r>
            <a:r>
              <a:rPr lang="ru-RU" dirty="0"/>
              <a:t>80</a:t>
            </a:r>
            <a:r>
              <a:rPr lang="en-US" dirty="0"/>
              <a:t>%</a:t>
            </a:r>
            <a:r>
              <a:rPr lang="ru-RU" dirty="0"/>
              <a:t>;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Mn - 7</a:t>
            </a:r>
            <a:r>
              <a:rPr lang="ru-RU" dirty="0"/>
              <a:t>1</a:t>
            </a:r>
            <a:r>
              <a:rPr lang="en-US" dirty="0"/>
              <a:t>%</a:t>
            </a:r>
            <a:r>
              <a:rPr lang="ru-RU" dirty="0"/>
              <a:t>.</a:t>
            </a:r>
            <a:endParaRPr lang="en-US" dirty="0"/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BE337-1164-4656-8C01-981369613905}"/>
              </a:ext>
            </a:extLst>
          </p:cNvPr>
          <p:cNvSpPr txBox="1"/>
          <p:nvPr/>
        </p:nvSpPr>
        <p:spPr>
          <a:xfrm>
            <a:off x="5247862" y="897662"/>
            <a:ext cx="59607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buClr>
                <a:srgbClr val="0077C8"/>
              </a:buClr>
            </a:pPr>
            <a:r>
              <a:rPr lang="ru-RU" sz="1800" dirty="0">
                <a:solidFill>
                  <a:srgbClr val="0077C8"/>
                </a:solidFill>
              </a:rPr>
              <a:t>Основан на сернокислом выщелачивании. В раствор переходят </a:t>
            </a:r>
            <a:r>
              <a:rPr lang="en-US" sz="1800" dirty="0" err="1">
                <a:solidFill>
                  <a:srgbClr val="0077C8"/>
                </a:solidFill>
              </a:rPr>
              <a:t>Cu,Ni,Co,Fe,Mn</a:t>
            </a:r>
            <a:r>
              <a:rPr lang="ru-RU" sz="1800" dirty="0">
                <a:solidFill>
                  <a:srgbClr val="0077C8"/>
                </a:solidFill>
              </a:rPr>
              <a:t>. После осаждения железа из раствора с применением </a:t>
            </a:r>
            <a:r>
              <a:rPr lang="en-US" sz="1800" dirty="0">
                <a:solidFill>
                  <a:srgbClr val="0077C8"/>
                </a:solidFill>
              </a:rPr>
              <a:t>S</a:t>
            </a:r>
            <a:r>
              <a:rPr lang="ru-RU" sz="1800" dirty="0">
                <a:solidFill>
                  <a:srgbClr val="0077C8"/>
                </a:solidFill>
              </a:rPr>
              <a:t> и </a:t>
            </a:r>
            <a:r>
              <a:rPr lang="en-US" sz="1800" dirty="0">
                <a:solidFill>
                  <a:srgbClr val="0077C8"/>
                </a:solidFill>
              </a:rPr>
              <a:t>Mn</a:t>
            </a:r>
            <a:r>
              <a:rPr lang="ru-RU" sz="1800" baseline="-25000" dirty="0">
                <a:solidFill>
                  <a:srgbClr val="0077C8"/>
                </a:solidFill>
              </a:rPr>
              <a:t>мет </a:t>
            </a:r>
            <a:r>
              <a:rPr lang="ru-RU" sz="1800" dirty="0">
                <a:solidFill>
                  <a:srgbClr val="0077C8"/>
                </a:solidFill>
              </a:rPr>
              <a:t>осаждают </a:t>
            </a:r>
            <a:r>
              <a:rPr lang="ru-RU" sz="1800" dirty="0" err="1">
                <a:solidFill>
                  <a:srgbClr val="0077C8"/>
                </a:solidFill>
              </a:rPr>
              <a:t>цв</a:t>
            </a:r>
            <a:r>
              <a:rPr lang="ru-RU" sz="1800" dirty="0">
                <a:solidFill>
                  <a:srgbClr val="0077C8"/>
                </a:solidFill>
              </a:rPr>
              <a:t>. металлы, а из раствора кристаллизуют сульфат </a:t>
            </a:r>
            <a:r>
              <a:rPr lang="en-US" sz="1800" dirty="0">
                <a:solidFill>
                  <a:srgbClr val="0077C8"/>
                </a:solidFill>
              </a:rPr>
              <a:t>Mn </a:t>
            </a:r>
            <a:r>
              <a:rPr lang="ru-RU" sz="1800" dirty="0">
                <a:solidFill>
                  <a:srgbClr val="0077C8"/>
                </a:solidFill>
              </a:rPr>
              <a:t>с последующей его переработкой пирометаллургией на металл.  </a:t>
            </a:r>
          </a:p>
        </p:txBody>
      </p:sp>
    </p:spTree>
    <p:extLst>
      <p:ext uri="{BB962C8B-B14F-4D97-AF65-F5344CB8AC3E}">
        <p14:creationId xmlns:p14="http://schemas.microsoft.com/office/powerpoint/2010/main" val="2237703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0DCF00-8F3A-4ED2-B625-50C1085C077A}"/>
              </a:ext>
            </a:extLst>
          </p:cNvPr>
          <p:cNvSpPr txBox="1"/>
          <p:nvPr/>
        </p:nvSpPr>
        <p:spPr>
          <a:xfrm>
            <a:off x="874643" y="148010"/>
            <a:ext cx="8443463" cy="749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кобальт-марганцевых корок   Процесс ФГУП ВИМС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C66AC3-4282-404A-9BB8-7FB5752D048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25" y="1437943"/>
            <a:ext cx="3481070" cy="44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6A0F104-AF0C-4889-8930-76BD369F778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709" y="1437944"/>
            <a:ext cx="3481070" cy="4438649"/>
          </a:xfrm>
          <a:prstGeom prst="rect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332B82-ABB2-4807-8438-6ACF7B17DF0A}"/>
              </a:ext>
            </a:extLst>
          </p:cNvPr>
          <p:cNvSpPr txBox="1"/>
          <p:nvPr/>
        </p:nvSpPr>
        <p:spPr>
          <a:xfrm>
            <a:off x="4019708" y="976970"/>
            <a:ext cx="34810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Металлургическая переработка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31F4C0-82BC-4294-B80E-864F60CA961F}"/>
              </a:ext>
            </a:extLst>
          </p:cNvPr>
          <p:cNvSpPr txBox="1"/>
          <p:nvPr/>
        </p:nvSpPr>
        <p:spPr>
          <a:xfrm>
            <a:off x="486289" y="928632"/>
            <a:ext cx="33568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Предварительное обогащение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A3D1CF0-1EE6-45CD-A3A7-384166643903}"/>
              </a:ext>
            </a:extLst>
          </p:cNvPr>
          <p:cNvGrpSpPr/>
          <p:nvPr/>
        </p:nvGrpSpPr>
        <p:grpSpPr>
          <a:xfrm>
            <a:off x="7958879" y="3832528"/>
            <a:ext cx="634289" cy="599960"/>
            <a:chOff x="1223648" y="4741784"/>
            <a:chExt cx="648000" cy="648000"/>
          </a:xfrm>
        </p:grpSpPr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446F7F9F-4878-457B-AC14-2222F4F0FF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648" y="4741784"/>
              <a:ext cx="648000" cy="648000"/>
            </a:xfrm>
            <a:prstGeom prst="ellipse">
              <a:avLst/>
            </a:prstGeom>
            <a:solidFill>
              <a:srgbClr val="0077C8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4592EA77-3407-49E4-965C-A90B8635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20664" y="4824719"/>
              <a:ext cx="432000" cy="43200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A57E57A-2AE5-45AA-971C-6B87FAC2A75F}"/>
              </a:ext>
            </a:extLst>
          </p:cNvPr>
          <p:cNvSpPr txBox="1"/>
          <p:nvPr/>
        </p:nvSpPr>
        <p:spPr>
          <a:xfrm>
            <a:off x="8593168" y="3740203"/>
            <a:ext cx="2365343" cy="2465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sz="2000" dirty="0"/>
              <a:t>Извлечение в тов. продукцию: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Cu – 98,8%</a:t>
            </a:r>
            <a:endParaRPr lang="ru-RU" sz="2000" dirty="0"/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Ni -  91,7%</a:t>
            </a:r>
            <a:r>
              <a:rPr lang="ru-RU" sz="2000" dirty="0"/>
              <a:t>;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Co – 92,0%</a:t>
            </a:r>
            <a:r>
              <a:rPr lang="ru-RU" sz="2000" dirty="0"/>
              <a:t>;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Mn – 98,2%</a:t>
            </a:r>
            <a:r>
              <a:rPr lang="ru-RU" sz="2000" dirty="0"/>
              <a:t>.</a:t>
            </a:r>
            <a:endParaRPr lang="en-US" sz="2000" dirty="0"/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5C2EB5-2C12-4D74-A624-E424F4286A99}"/>
              </a:ext>
            </a:extLst>
          </p:cNvPr>
          <p:cNvSpPr txBox="1"/>
          <p:nvPr/>
        </p:nvSpPr>
        <p:spPr>
          <a:xfrm>
            <a:off x="7609398" y="1388431"/>
            <a:ext cx="35490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buClr>
                <a:srgbClr val="0077C8"/>
              </a:buClr>
            </a:pPr>
            <a:r>
              <a:rPr lang="ru-RU" sz="1800" dirty="0">
                <a:solidFill>
                  <a:srgbClr val="0077C8"/>
                </a:solidFill>
              </a:rPr>
              <a:t>Основан на предварительном обогащении с последующей термической обработкой и сернокислотном выщелачиванием.    </a:t>
            </a:r>
          </a:p>
        </p:txBody>
      </p:sp>
    </p:spTree>
    <p:extLst>
      <p:ext uri="{BB962C8B-B14F-4D97-AF65-F5344CB8AC3E}">
        <p14:creationId xmlns:p14="http://schemas.microsoft.com/office/powerpoint/2010/main" val="3991703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148493E-E5C3-4AAB-8B3F-EF31EE3AC8F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14" y="830001"/>
            <a:ext cx="4667414" cy="54703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995899-BB5E-4DEE-9833-6C28D10D3475}"/>
              </a:ext>
            </a:extLst>
          </p:cNvPr>
          <p:cNvSpPr txBox="1"/>
          <p:nvPr/>
        </p:nvSpPr>
        <p:spPr>
          <a:xfrm>
            <a:off x="341906" y="179815"/>
            <a:ext cx="8443463" cy="749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кобальт-марганцевых корок   Процесс 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Cuprion</a:t>
            </a:r>
            <a:endParaRPr lang="ru-RU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6A25D-0BAF-48F6-A786-223185B8A861}"/>
              </a:ext>
            </a:extLst>
          </p:cNvPr>
          <p:cNvSpPr txBox="1"/>
          <p:nvPr/>
        </p:nvSpPr>
        <p:spPr>
          <a:xfrm>
            <a:off x="6585394" y="3641040"/>
            <a:ext cx="4317019" cy="2776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just">
              <a:spcBef>
                <a:spcPts val="300"/>
              </a:spcBef>
              <a:buClr>
                <a:srgbClr val="0077C8"/>
              </a:buClr>
            </a:pPr>
            <a:r>
              <a:rPr lang="ru-RU" dirty="0"/>
              <a:t>Извлечение в тов. продукцию при аммиачно-сульфатном выщелачивании: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Co – 91%</a:t>
            </a:r>
            <a:endParaRPr lang="ru-RU" dirty="0"/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Ni -  85%</a:t>
            </a:r>
            <a:r>
              <a:rPr lang="ru-RU" dirty="0"/>
              <a:t>;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Cu – 61%</a:t>
            </a:r>
            <a:r>
              <a:rPr lang="ru-RU" dirty="0"/>
              <a:t>;</a:t>
            </a:r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r>
              <a:rPr lang="en-US" dirty="0"/>
              <a:t>Mn – 60%</a:t>
            </a:r>
            <a:r>
              <a:rPr lang="ru-RU" dirty="0"/>
              <a:t>.</a:t>
            </a:r>
            <a:endParaRPr lang="en-US" dirty="0"/>
          </a:p>
          <a:p>
            <a:pPr marL="279450" indent="-171450" algn="just">
              <a:spcBef>
                <a:spcPts val="300"/>
              </a:spcBef>
              <a:buClr>
                <a:srgbClr val="0077C8"/>
              </a:buClr>
              <a:buFont typeface="Arial" panose="020B0604020202020204" pitchFamily="34" charset="0"/>
              <a:buChar char="•"/>
            </a:pPr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E2E4187-1E63-4A8F-9029-766EEB0AEAD1}"/>
              </a:ext>
            </a:extLst>
          </p:cNvPr>
          <p:cNvGrpSpPr/>
          <p:nvPr/>
        </p:nvGrpSpPr>
        <p:grpSpPr>
          <a:xfrm>
            <a:off x="5959362" y="3764991"/>
            <a:ext cx="648000" cy="648000"/>
            <a:chOff x="1223648" y="4741784"/>
            <a:chExt cx="648000" cy="648000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8E936952-2955-4544-B89D-59104FDA69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648" y="4741784"/>
              <a:ext cx="648000" cy="648000"/>
            </a:xfrm>
            <a:prstGeom prst="ellipse">
              <a:avLst/>
            </a:prstGeom>
            <a:solidFill>
              <a:srgbClr val="0077C8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ACEF7842-3783-47A3-8AEE-89DBA38D5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20664" y="4824719"/>
              <a:ext cx="432000" cy="4320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06B0D81-5AAA-4F24-8E7B-ADEDDAE5F9DB}"/>
              </a:ext>
            </a:extLst>
          </p:cNvPr>
          <p:cNvSpPr txBox="1"/>
          <p:nvPr/>
        </p:nvSpPr>
        <p:spPr>
          <a:xfrm>
            <a:off x="5760244" y="1084924"/>
            <a:ext cx="52682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buClr>
                <a:srgbClr val="0077C8"/>
              </a:buClr>
            </a:pPr>
            <a:r>
              <a:rPr lang="ru-RU" sz="1800" dirty="0">
                <a:solidFill>
                  <a:srgbClr val="0077C8"/>
                </a:solidFill>
              </a:rPr>
              <a:t>Основан на аммиачно-карбонатном или аммиачно-сульфатном выщелачивании, осаждении марганца, кобальта и последующей экстракции и </a:t>
            </a:r>
            <a:r>
              <a:rPr lang="ru-RU" sz="1800" dirty="0" err="1">
                <a:solidFill>
                  <a:srgbClr val="0077C8"/>
                </a:solidFill>
              </a:rPr>
              <a:t>электроэкстракции</a:t>
            </a:r>
            <a:r>
              <a:rPr lang="ru-RU" sz="1800" dirty="0">
                <a:solidFill>
                  <a:srgbClr val="0077C8"/>
                </a:solidFill>
              </a:rPr>
              <a:t> никеля и меди</a:t>
            </a:r>
          </a:p>
        </p:txBody>
      </p:sp>
    </p:spTree>
    <p:extLst>
      <p:ext uri="{BB962C8B-B14F-4D97-AF65-F5344CB8AC3E}">
        <p14:creationId xmlns:p14="http://schemas.microsoft.com/office/powerpoint/2010/main" val="3840241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E0A89C-6B04-4FDD-A24D-1931DC5DE840}"/>
              </a:ext>
            </a:extLst>
          </p:cNvPr>
          <p:cNvSpPr txBox="1"/>
          <p:nvPr/>
        </p:nvSpPr>
        <p:spPr>
          <a:xfrm>
            <a:off x="989532" y="578515"/>
            <a:ext cx="3844759" cy="12029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Переработка глубоководных полиметаллических сульфидов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A63E20-28A7-47C2-B4C9-EE5C6E8CDA8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295" y="3035135"/>
            <a:ext cx="3844760" cy="251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D192DA-4B28-4F3A-9F5E-CDCDB4A3C3DB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359"/>
          <a:stretch/>
        </p:blipFill>
        <p:spPr bwMode="auto">
          <a:xfrm>
            <a:off x="5939624" y="485029"/>
            <a:ext cx="5580863" cy="59951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5444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E2710C-50C1-4A92-A8B8-DB273CCBE30C}"/>
              </a:ext>
            </a:extLst>
          </p:cNvPr>
          <p:cNvSpPr txBox="1"/>
          <p:nvPr/>
        </p:nvSpPr>
        <p:spPr>
          <a:xfrm>
            <a:off x="874643" y="148010"/>
            <a:ext cx="8443463" cy="749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глубоководных полиметаллических сульфидов.   Процесс ФГУП ВИМС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E5BF38-69BA-4BAD-9DB6-D426559D594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10" y="1057523"/>
            <a:ext cx="8126234" cy="4843308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64416B-7639-4F7E-83DE-370905E71356}"/>
              </a:ext>
            </a:extLst>
          </p:cNvPr>
          <p:cNvSpPr txBox="1"/>
          <p:nvPr/>
        </p:nvSpPr>
        <p:spPr>
          <a:xfrm>
            <a:off x="8619213" y="1009815"/>
            <a:ext cx="273429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buClr>
                <a:srgbClr val="0077C8"/>
              </a:buClr>
            </a:pPr>
            <a:r>
              <a:rPr lang="ru-RU" sz="1400" dirty="0">
                <a:solidFill>
                  <a:srgbClr val="0077C8"/>
                </a:solidFill>
              </a:rPr>
              <a:t>Основан на предварительном флотационном обогащении с получением цинковых и медных концентратов, перерабатываемых по известным технологиям с комплексным извлечением ценных компонентов</a:t>
            </a:r>
          </a:p>
        </p:txBody>
      </p:sp>
    </p:spTree>
    <p:extLst>
      <p:ext uri="{BB962C8B-B14F-4D97-AF65-F5344CB8AC3E}">
        <p14:creationId xmlns:p14="http://schemas.microsoft.com/office/powerpoint/2010/main" val="3911934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90568E-8B59-48D6-86CC-34569647DECA}"/>
              </a:ext>
            </a:extLst>
          </p:cNvPr>
          <p:cNvSpPr txBox="1"/>
          <p:nvPr/>
        </p:nvSpPr>
        <p:spPr>
          <a:xfrm>
            <a:off x="874643" y="148010"/>
            <a:ext cx="8443463" cy="749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глубоководных полиметаллических сульфидов.   Процесс ЦНИГРИ</a:t>
            </a:r>
          </a:p>
        </p:txBody>
      </p:sp>
      <p:pic>
        <p:nvPicPr>
          <p:cNvPr id="3" name="Рисунок 2" descr="3">
            <a:extLst>
              <a:ext uri="{FF2B5EF4-FFF2-40B4-BE49-F238E27FC236}">
                <a16:creationId xmlns:a16="http://schemas.microsoft.com/office/drawing/2014/main" id="{B413D690-FD3E-43F0-A13B-8521DCD98F7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43" y="897662"/>
            <a:ext cx="3930694" cy="531079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0483D6-0EFC-458F-A7C2-9D973E15D84B}"/>
              </a:ext>
            </a:extLst>
          </p:cNvPr>
          <p:cNvSpPr txBox="1"/>
          <p:nvPr/>
        </p:nvSpPr>
        <p:spPr>
          <a:xfrm>
            <a:off x="5481949" y="897662"/>
            <a:ext cx="55932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buClr>
                <a:srgbClr val="0077C8"/>
              </a:buClr>
            </a:pPr>
            <a:r>
              <a:rPr lang="ru-RU" sz="1400" dirty="0">
                <a:solidFill>
                  <a:srgbClr val="0077C8"/>
                </a:solidFill>
              </a:rPr>
              <a:t>Основан на обжиге в печах кипящего слоя с последующим сернокислотном выщелачиванием огарка с </a:t>
            </a:r>
            <a:r>
              <a:rPr lang="ru-RU" sz="1400" dirty="0" err="1">
                <a:solidFill>
                  <a:srgbClr val="0077C8"/>
                </a:solidFill>
              </a:rPr>
              <a:t>осажденеим</a:t>
            </a:r>
            <a:r>
              <a:rPr lang="ru-RU" sz="1400" dirty="0">
                <a:solidFill>
                  <a:srgbClr val="0077C8"/>
                </a:solidFill>
              </a:rPr>
              <a:t> меди из раствора </a:t>
            </a:r>
            <a:r>
              <a:rPr lang="en-US" sz="1400" dirty="0">
                <a:solidFill>
                  <a:srgbClr val="0077C8"/>
                </a:solidFill>
              </a:rPr>
              <a:t>Zn-</a:t>
            </a:r>
            <a:r>
              <a:rPr lang="ru-RU" sz="1400" dirty="0">
                <a:solidFill>
                  <a:srgbClr val="0077C8"/>
                </a:solidFill>
              </a:rPr>
              <a:t>пылью и цинка содой. </a:t>
            </a:r>
            <a:r>
              <a:rPr lang="ru-RU" sz="1400" dirty="0" err="1">
                <a:solidFill>
                  <a:srgbClr val="0077C8"/>
                </a:solidFill>
              </a:rPr>
              <a:t>Кк</a:t>
            </a:r>
            <a:r>
              <a:rPr lang="ru-RU" sz="1400" dirty="0">
                <a:solidFill>
                  <a:srgbClr val="0077C8"/>
                </a:solidFill>
              </a:rPr>
              <a:t> подвергают сорбционному выщелачиванию с выделением </a:t>
            </a:r>
            <a:r>
              <a:rPr lang="en-US" sz="1400" dirty="0">
                <a:solidFill>
                  <a:srgbClr val="0077C8"/>
                </a:solidFill>
              </a:rPr>
              <a:t>Au</a:t>
            </a:r>
            <a:r>
              <a:rPr lang="ru-RU" sz="1400" dirty="0">
                <a:solidFill>
                  <a:srgbClr val="0077C8"/>
                </a:solidFill>
              </a:rPr>
              <a:t> и</a:t>
            </a:r>
            <a:r>
              <a:rPr lang="en-US" sz="1400" dirty="0">
                <a:solidFill>
                  <a:srgbClr val="0077C8"/>
                </a:solidFill>
              </a:rPr>
              <a:t> Ag</a:t>
            </a:r>
            <a:r>
              <a:rPr lang="ru-RU" sz="1400" dirty="0">
                <a:solidFill>
                  <a:srgbClr val="0077C8"/>
                </a:solidFill>
              </a:rPr>
              <a:t> и последующим получением сплава Доре. </a:t>
            </a:r>
          </a:p>
        </p:txBody>
      </p:sp>
    </p:spTree>
    <p:extLst>
      <p:ext uri="{BB962C8B-B14F-4D97-AF65-F5344CB8AC3E}">
        <p14:creationId xmlns:p14="http://schemas.microsoft.com/office/powerpoint/2010/main" val="2762275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ED0571-4DE3-4E76-9EDA-B9F5311DBC34}"/>
              </a:ext>
            </a:extLst>
          </p:cNvPr>
          <p:cNvSpPr txBox="1"/>
          <p:nvPr/>
        </p:nvSpPr>
        <p:spPr>
          <a:xfrm>
            <a:off x="164895" y="133919"/>
            <a:ext cx="9167855" cy="749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Технологии переработки глубоководных полиметаллических сульфидов. Процесс ЦНИГРИ совместной переработки ЖМК+ГПС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4747FA-DA30-45B2-AB96-4EE59D06C1C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84" y="1009815"/>
            <a:ext cx="7609399" cy="478668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52611E-1A0C-4F68-BF4E-249CCD103F5B}"/>
              </a:ext>
            </a:extLst>
          </p:cNvPr>
          <p:cNvSpPr txBox="1"/>
          <p:nvPr/>
        </p:nvSpPr>
        <p:spPr>
          <a:xfrm>
            <a:off x="7824083" y="1009815"/>
            <a:ext cx="36964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lr>
                <a:srgbClr val="0077C8"/>
              </a:buClr>
            </a:pPr>
            <a:r>
              <a:rPr lang="ru-RU" sz="1400" dirty="0">
                <a:solidFill>
                  <a:srgbClr val="0077C8"/>
                </a:solidFill>
              </a:rPr>
              <a:t>Основан на совместной переработке ЖМК и ГПС с применением сернокислотного выщелачивания в присутствии </a:t>
            </a:r>
            <a:r>
              <a:rPr lang="en-US" sz="1400" dirty="0">
                <a:solidFill>
                  <a:srgbClr val="0077C8"/>
                </a:solidFill>
              </a:rPr>
              <a:t>SO</a:t>
            </a:r>
            <a:r>
              <a:rPr lang="en-US" sz="1400" baseline="-25000" dirty="0">
                <a:solidFill>
                  <a:srgbClr val="0077C8"/>
                </a:solidFill>
              </a:rPr>
              <a:t>2</a:t>
            </a:r>
            <a:r>
              <a:rPr lang="en-US" sz="1400" dirty="0">
                <a:solidFill>
                  <a:srgbClr val="0077C8"/>
                </a:solidFill>
              </a:rPr>
              <a:t> </a:t>
            </a:r>
            <a:r>
              <a:rPr lang="ru-RU" sz="1400" dirty="0">
                <a:solidFill>
                  <a:srgbClr val="0077C8"/>
                </a:solidFill>
              </a:rPr>
              <a:t>для ЖМК. </a:t>
            </a:r>
            <a:r>
              <a:rPr lang="en-US" sz="1400" dirty="0">
                <a:solidFill>
                  <a:srgbClr val="0077C8"/>
                </a:solidFill>
              </a:rPr>
              <a:t>Cu</a:t>
            </a:r>
            <a:r>
              <a:rPr lang="ru-RU" sz="1400" dirty="0">
                <a:solidFill>
                  <a:srgbClr val="0077C8"/>
                </a:solidFill>
              </a:rPr>
              <a:t> из двух схем объединяется для получения электролитной </a:t>
            </a:r>
            <a:r>
              <a:rPr lang="en-US" sz="1400" dirty="0">
                <a:solidFill>
                  <a:srgbClr val="0077C8"/>
                </a:solidFill>
              </a:rPr>
              <a:t>Cu</a:t>
            </a:r>
            <a:r>
              <a:rPr lang="ru-RU" sz="1400" dirty="0">
                <a:solidFill>
                  <a:srgbClr val="0077C8"/>
                </a:solidFill>
              </a:rPr>
              <a:t> по схеме обжиг-выщелачивание-электро-экстракция. Из раствора </a:t>
            </a:r>
            <a:r>
              <a:rPr lang="en-US" sz="1400" dirty="0">
                <a:solidFill>
                  <a:srgbClr val="0077C8"/>
                </a:solidFill>
              </a:rPr>
              <a:t>MnSO</a:t>
            </a:r>
            <a:r>
              <a:rPr lang="en-US" sz="1400" baseline="-25000" dirty="0">
                <a:solidFill>
                  <a:srgbClr val="0077C8"/>
                </a:solidFill>
              </a:rPr>
              <a:t>4</a:t>
            </a:r>
            <a:r>
              <a:rPr lang="en-US" sz="1400" dirty="0">
                <a:solidFill>
                  <a:srgbClr val="0077C8"/>
                </a:solidFill>
              </a:rPr>
              <a:t> </a:t>
            </a:r>
            <a:r>
              <a:rPr lang="ru-RU" sz="1400" dirty="0">
                <a:solidFill>
                  <a:srgbClr val="0077C8"/>
                </a:solidFill>
              </a:rPr>
              <a:t>получают электротермический и электролитический марганец</a:t>
            </a:r>
          </a:p>
        </p:txBody>
      </p:sp>
    </p:spTree>
    <p:extLst>
      <p:ext uri="{BB962C8B-B14F-4D97-AF65-F5344CB8AC3E}">
        <p14:creationId xmlns:p14="http://schemas.microsoft.com/office/powerpoint/2010/main" val="3768519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E98A75-6635-4423-8AA1-3C5F6E3F5AF0}"/>
              </a:ext>
            </a:extLst>
          </p:cNvPr>
          <p:cNvSpPr txBox="1"/>
          <p:nvPr/>
        </p:nvSpPr>
        <p:spPr>
          <a:xfrm>
            <a:off x="874643" y="148010"/>
            <a:ext cx="8443463" cy="2399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Основные выводы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8FD4B-8EF3-4606-8937-D6A86B087243}"/>
              </a:ext>
            </a:extLst>
          </p:cNvPr>
          <p:cNvSpPr txBox="1"/>
          <p:nvPr/>
        </p:nvSpPr>
        <p:spPr>
          <a:xfrm>
            <a:off x="782151" y="620834"/>
            <a:ext cx="612119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77C8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Технологические подходы к переработке ЖМК и КМК  </a:t>
            </a:r>
            <a:r>
              <a:rPr lang="ru-RU" sz="1400" b="1" dirty="0">
                <a:solidFill>
                  <a:srgbClr val="0077C8"/>
                </a:solidFill>
              </a:rPr>
              <a:t>представляют собой смешанные </a:t>
            </a:r>
            <a:r>
              <a:rPr lang="ru-RU" sz="1400" b="1" dirty="0" err="1">
                <a:solidFill>
                  <a:srgbClr val="0077C8"/>
                </a:solidFill>
              </a:rPr>
              <a:t>пиро</a:t>
            </a:r>
            <a:r>
              <a:rPr lang="ru-RU" sz="1400" b="1" dirty="0">
                <a:solidFill>
                  <a:srgbClr val="0077C8"/>
                </a:solidFill>
              </a:rPr>
              <a:t>-гидрометаллургические и гидрометаллургические способы, характеризующиеся большим разнообразием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77C8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, но в целом схожие с  технологическими приемами, применяемыми при переработке латеритных никелевых руд 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43EFC04-4095-4E1D-9FF4-372AD607658C}"/>
              </a:ext>
            </a:extLst>
          </p:cNvPr>
          <p:cNvGrpSpPr/>
          <p:nvPr/>
        </p:nvGrpSpPr>
        <p:grpSpPr>
          <a:xfrm>
            <a:off x="245336" y="712699"/>
            <a:ext cx="386317" cy="372148"/>
            <a:chOff x="1223648" y="2761911"/>
            <a:chExt cx="648000" cy="648000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F32E61D8-D4C8-4766-B79A-517F7F007C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648" y="2761911"/>
              <a:ext cx="648000" cy="648000"/>
            </a:xfrm>
            <a:prstGeom prst="ellipse">
              <a:avLst/>
            </a:prstGeom>
            <a:solidFill>
              <a:srgbClr val="0077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40EB29E4-67B6-4557-88EE-22025CAAF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20664" y="2869911"/>
              <a:ext cx="432000" cy="432000"/>
            </a:xfrm>
            <a:prstGeom prst="rect">
              <a:avLst/>
            </a:prstGeom>
          </p:spPr>
        </p:pic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A8BBC2C-3498-4D21-9E34-89D13D86CA4D}"/>
              </a:ext>
            </a:extLst>
          </p:cNvPr>
          <p:cNvGrpSpPr/>
          <p:nvPr/>
        </p:nvGrpSpPr>
        <p:grpSpPr>
          <a:xfrm>
            <a:off x="247923" y="2197133"/>
            <a:ext cx="386317" cy="372148"/>
            <a:chOff x="1223648" y="3751848"/>
            <a:chExt cx="648000" cy="648000"/>
          </a:xfrm>
        </p:grpSpPr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DA0830D1-A84F-41B6-B180-D8CA68E4F8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648" y="3751848"/>
              <a:ext cx="648000" cy="648000"/>
            </a:xfrm>
            <a:prstGeom prst="ellipse">
              <a:avLst/>
            </a:prstGeom>
            <a:solidFill>
              <a:srgbClr val="0077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2F03EEF2-6247-45AD-A53F-FD8DBE890C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38664" y="3850162"/>
              <a:ext cx="432000" cy="400002"/>
            </a:xfrm>
            <a:prstGeom prst="rect">
              <a:avLst/>
            </a:prstGeom>
          </p:spPr>
        </p:pic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31B00D2E-7E7C-41C8-9D1D-2E99BE460890}"/>
              </a:ext>
            </a:extLst>
          </p:cNvPr>
          <p:cNvGrpSpPr/>
          <p:nvPr/>
        </p:nvGrpSpPr>
        <p:grpSpPr>
          <a:xfrm>
            <a:off x="271427" y="4410929"/>
            <a:ext cx="386317" cy="372148"/>
            <a:chOff x="6129430" y="2682735"/>
            <a:chExt cx="648000" cy="648000"/>
          </a:xfrm>
        </p:grpSpPr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8B3054AE-A0E8-4E34-BEEC-823FB6C19F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29430" y="2682735"/>
              <a:ext cx="648000" cy="648000"/>
            </a:xfrm>
            <a:prstGeom prst="ellipse">
              <a:avLst/>
            </a:prstGeom>
            <a:solidFill>
              <a:srgbClr val="0077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FE20E414-7A1C-4900-9732-D7049177D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33096" y="2790735"/>
              <a:ext cx="432000" cy="43200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2529E16-3147-477F-B1EB-9B94D2D05CEF}"/>
              </a:ext>
            </a:extLst>
          </p:cNvPr>
          <p:cNvSpPr txBox="1"/>
          <p:nvPr/>
        </p:nvSpPr>
        <p:spPr>
          <a:xfrm>
            <a:off x="750343" y="4410929"/>
            <a:ext cx="5994949" cy="731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1028235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00" b="1" i="0" u="none" strike="noStrike" kern="0" cap="none" spc="0" normalizeH="0" baseline="0" noProof="0" dirty="0">
                <a:ln>
                  <a:noFill/>
                </a:ln>
                <a:solidFill>
                  <a:srgbClr val="0077C8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Развитие новых отраслей потребления никеля, кобальта и марганца (например, аккумуляторы новых поколений) требует переосмысления разработанных технологий</a:t>
            </a:r>
            <a:endParaRPr kumimoji="0" lang="ru-RU" sz="1300" b="0" i="0" u="none" strike="noStrike" kern="0" cap="none" spc="0" normalizeH="0" baseline="0" noProof="0" dirty="0">
              <a:ln>
                <a:noFill/>
              </a:ln>
              <a:solidFill>
                <a:srgbClr val="0077C8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055640D3-D22C-43CF-BDF8-827039477C18}"/>
              </a:ext>
            </a:extLst>
          </p:cNvPr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868"/>
          <a:stretch/>
        </p:blipFill>
        <p:spPr bwMode="auto">
          <a:xfrm>
            <a:off x="7148223" y="467868"/>
            <a:ext cx="4372265" cy="603369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B858991-C09B-41C8-9B10-75B4893D9C11}"/>
              </a:ext>
            </a:extLst>
          </p:cNvPr>
          <p:cNvSpPr txBox="1"/>
          <p:nvPr/>
        </p:nvSpPr>
        <p:spPr>
          <a:xfrm>
            <a:off x="750343" y="3215888"/>
            <a:ext cx="618480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77C8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Наибольший интерес может представлять месторождение железо-марганцевых конкреций </a:t>
            </a:r>
            <a:r>
              <a:rPr lang="en-US" sz="1400" b="1" dirty="0">
                <a:solidFill>
                  <a:srgbClr val="0077C8"/>
                </a:solidFill>
              </a:rPr>
              <a:t>Clarion-</a:t>
            </a:r>
            <a:r>
              <a:rPr lang="en-US" sz="1400" b="1" dirty="0" err="1">
                <a:solidFill>
                  <a:srgbClr val="0077C8"/>
                </a:solidFill>
              </a:rPr>
              <a:t>Clipperton</a:t>
            </a:r>
            <a:r>
              <a:rPr lang="ru-RU" sz="1400" b="1" dirty="0">
                <a:solidFill>
                  <a:srgbClr val="0077C8"/>
                </a:solidFill>
              </a:rPr>
              <a:t>, характеризующееся значимыми содержаниями никеля, кобальта, меди и марганца.</a:t>
            </a:r>
          </a:p>
          <a:p>
            <a:pPr marL="0" marR="0" lvl="0" indent="0" algn="just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endParaRPr kumimoji="0" lang="ru-RU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2FD0FE02-FA87-420E-84E4-350117626BE7}"/>
              </a:ext>
            </a:extLst>
          </p:cNvPr>
          <p:cNvGrpSpPr/>
          <p:nvPr/>
        </p:nvGrpSpPr>
        <p:grpSpPr>
          <a:xfrm>
            <a:off x="273395" y="3298643"/>
            <a:ext cx="386317" cy="372148"/>
            <a:chOff x="1223648" y="3751848"/>
            <a:chExt cx="648000" cy="648000"/>
          </a:xfrm>
        </p:grpSpPr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03EA6FEB-63A0-49DD-B7AF-9C75A2A38A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648" y="3751848"/>
              <a:ext cx="648000" cy="648000"/>
            </a:xfrm>
            <a:prstGeom prst="ellipse">
              <a:avLst/>
            </a:prstGeom>
            <a:solidFill>
              <a:srgbClr val="0077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16325F22-3B9D-46CF-B8C6-BD4A51611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38664" y="3850162"/>
              <a:ext cx="432000" cy="400002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E32EB98-C2CA-4C10-A67F-D7EF52F6483E}"/>
              </a:ext>
            </a:extLst>
          </p:cNvPr>
          <p:cNvSpPr txBox="1"/>
          <p:nvPr/>
        </p:nvSpPr>
        <p:spPr>
          <a:xfrm>
            <a:off x="750343" y="2097884"/>
            <a:ext cx="61211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77C8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Переработка ГПС характеризуется схожими подходами с переработкой медных и медно-цинковых сульфидных концентратов, но необходимо учитывать необходимость комплексность извлечения ценных компонентов. </a:t>
            </a:r>
            <a:r>
              <a:rPr lang="ru-RU" sz="1400" b="1" dirty="0">
                <a:solidFill>
                  <a:srgbClr val="0077C8"/>
                </a:solidFill>
              </a:rPr>
              <a:t>и</a:t>
            </a:r>
            <a:endParaRPr kumimoji="0" lang="ru-RU" sz="1400" b="1" i="0" u="none" strike="noStrike" kern="0" cap="none" spc="0" normalizeH="0" baseline="0" noProof="0" dirty="0">
              <a:ln>
                <a:noFill/>
              </a:ln>
              <a:solidFill>
                <a:srgbClr val="0077C8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268017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E0BA22-7866-4008-957A-14BB983F05CD}"/>
              </a:ext>
            </a:extLst>
          </p:cNvPr>
          <p:cNvSpPr txBox="1"/>
          <p:nvPr/>
        </p:nvSpPr>
        <p:spPr>
          <a:xfrm>
            <a:off x="874643" y="148010"/>
            <a:ext cx="8443463" cy="2399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Дальнейшие шаги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3918DC03-FDE6-4628-BF22-FE9D53804FE2}"/>
              </a:ext>
            </a:extLst>
          </p:cNvPr>
          <p:cNvGrpSpPr/>
          <p:nvPr/>
        </p:nvGrpSpPr>
        <p:grpSpPr>
          <a:xfrm>
            <a:off x="229940" y="777456"/>
            <a:ext cx="386317" cy="372148"/>
            <a:chOff x="1223648" y="2761911"/>
            <a:chExt cx="648000" cy="648000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2E365B09-47F5-42DB-AE6A-1D61A03E28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648" y="2761911"/>
              <a:ext cx="648000" cy="648000"/>
            </a:xfrm>
            <a:prstGeom prst="ellipse">
              <a:avLst/>
            </a:prstGeom>
            <a:solidFill>
              <a:srgbClr val="0077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1FDBD486-79D0-40B2-86A7-64F9F0C74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20664" y="2869911"/>
              <a:ext cx="432000" cy="432000"/>
            </a:xfrm>
            <a:prstGeom prst="rect">
              <a:avLst/>
            </a:prstGeom>
          </p:spPr>
        </p:pic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8A62BAF-1E53-4F72-AC7A-254D7A4B5144}"/>
              </a:ext>
            </a:extLst>
          </p:cNvPr>
          <p:cNvGrpSpPr/>
          <p:nvPr/>
        </p:nvGrpSpPr>
        <p:grpSpPr>
          <a:xfrm>
            <a:off x="229940" y="1579317"/>
            <a:ext cx="386317" cy="372148"/>
            <a:chOff x="1223648" y="3751848"/>
            <a:chExt cx="648000" cy="648000"/>
          </a:xfrm>
        </p:grpSpPr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E92181D9-BCE5-4B1E-B0E6-A85C2B33B7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648" y="3751848"/>
              <a:ext cx="648000" cy="648000"/>
            </a:xfrm>
            <a:prstGeom prst="ellipse">
              <a:avLst/>
            </a:prstGeom>
            <a:solidFill>
              <a:srgbClr val="0077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F0E71AD3-8C8A-4806-970E-15B4FC0FA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38664" y="3850162"/>
              <a:ext cx="432000" cy="400002"/>
            </a:xfrm>
            <a:prstGeom prst="rect">
              <a:avLst/>
            </a:prstGeom>
          </p:spPr>
        </p:pic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1B5C5D6-E6FD-4261-BFB5-4035D8EA8CCA}"/>
              </a:ext>
            </a:extLst>
          </p:cNvPr>
          <p:cNvGrpSpPr/>
          <p:nvPr/>
        </p:nvGrpSpPr>
        <p:grpSpPr>
          <a:xfrm>
            <a:off x="229940" y="2545655"/>
            <a:ext cx="386317" cy="372148"/>
            <a:chOff x="1223648" y="3751848"/>
            <a:chExt cx="648000" cy="648000"/>
          </a:xfrm>
        </p:grpSpPr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CEC10ABC-DB89-4AFF-B66E-E911AA5D1E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648" y="3751848"/>
              <a:ext cx="648000" cy="648000"/>
            </a:xfrm>
            <a:prstGeom prst="ellipse">
              <a:avLst/>
            </a:prstGeom>
            <a:solidFill>
              <a:srgbClr val="0077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884F8B9-9AA4-4C6D-BD55-E60B7B5BC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38664" y="3850162"/>
              <a:ext cx="432000" cy="400002"/>
            </a:xfrm>
            <a:prstGeom prst="rect">
              <a:avLst/>
            </a:prstGeom>
          </p:spPr>
        </p:pic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0C3BF4F9-5D93-4BA7-8B17-9867204D16B8}"/>
              </a:ext>
            </a:extLst>
          </p:cNvPr>
          <p:cNvGrpSpPr/>
          <p:nvPr/>
        </p:nvGrpSpPr>
        <p:grpSpPr>
          <a:xfrm>
            <a:off x="229940" y="3446400"/>
            <a:ext cx="386317" cy="372148"/>
            <a:chOff x="6129430" y="2682735"/>
            <a:chExt cx="648000" cy="648000"/>
          </a:xfrm>
        </p:grpSpPr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FD8B0866-3985-4D84-B39E-1DBB53C313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29430" y="2682735"/>
              <a:ext cx="648000" cy="648000"/>
            </a:xfrm>
            <a:prstGeom prst="ellipse">
              <a:avLst/>
            </a:prstGeom>
            <a:solidFill>
              <a:srgbClr val="0077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6649B95E-B3D2-4E8C-85F8-E11D27C8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33096" y="2790735"/>
              <a:ext cx="432000" cy="432000"/>
            </a:xfrm>
            <a:prstGeom prst="rect">
              <a:avLst/>
            </a:prstGeom>
          </p:spPr>
        </p:pic>
      </p:grp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4E8C911-A4B9-4799-8477-7C641C32BC6A}"/>
              </a:ext>
            </a:extLst>
          </p:cNvPr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31"/>
          <a:stretch/>
        </p:blipFill>
        <p:spPr bwMode="auto">
          <a:xfrm>
            <a:off x="7315200" y="511762"/>
            <a:ext cx="4205288" cy="596841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F976EC5-9450-46CF-BA7E-41FFA7EB3015}"/>
              </a:ext>
            </a:extLst>
          </p:cNvPr>
          <p:cNvSpPr txBox="1"/>
          <p:nvPr/>
        </p:nvSpPr>
        <p:spPr>
          <a:xfrm>
            <a:off x="811032" y="701920"/>
            <a:ext cx="61211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77C8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Определение номенклатуры товарной продукции никеля, кобальта и марганца в среднесрочной перспективе. 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60CF4D-0674-40AA-AB70-AD162EEB5BEE}"/>
              </a:ext>
            </a:extLst>
          </p:cNvPr>
          <p:cNvSpPr txBox="1"/>
          <p:nvPr/>
        </p:nvSpPr>
        <p:spPr>
          <a:xfrm>
            <a:off x="811029" y="1503781"/>
            <a:ext cx="61211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77C8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Критический анализ разработанных технологических схем с позиций </a:t>
            </a:r>
            <a:r>
              <a:rPr lang="ru-RU" sz="1400" b="1" dirty="0">
                <a:solidFill>
                  <a:srgbClr val="0077C8"/>
                </a:solidFill>
              </a:rPr>
              <a:t>современных достижений металлургии и линейки перспективной товарной продукции</a:t>
            </a:r>
            <a:endParaRPr kumimoji="0" lang="ru-RU" sz="1400" b="1" i="0" u="none" strike="noStrike" kern="0" cap="none" spc="0" normalizeH="0" baseline="0" noProof="0" dirty="0">
              <a:ln>
                <a:noFill/>
              </a:ln>
              <a:solidFill>
                <a:srgbClr val="0077C8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8CCE16-F54D-44C8-9107-704F175A4AD3}"/>
              </a:ext>
            </a:extLst>
          </p:cNvPr>
          <p:cNvSpPr txBox="1"/>
          <p:nvPr/>
        </p:nvSpPr>
        <p:spPr>
          <a:xfrm>
            <a:off x="811029" y="2521086"/>
            <a:ext cx="61211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r>
              <a:rPr lang="en-US" sz="1400" b="1" dirty="0">
                <a:solidFill>
                  <a:srgbClr val="0077C8"/>
                </a:solidFill>
              </a:rPr>
              <a:t>SWOT</a:t>
            </a:r>
            <a:r>
              <a:rPr lang="ru-RU" sz="1400" b="1" dirty="0">
                <a:solidFill>
                  <a:srgbClr val="0077C8"/>
                </a:solidFill>
              </a:rPr>
              <a:t>-анализ технологий с 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77C8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определением наиболее перспективных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7C8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2-3 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77C8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вариантов для выполнения ТЭО 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704182-045E-47F6-97F2-0453AB738698}"/>
              </a:ext>
            </a:extLst>
          </p:cNvPr>
          <p:cNvSpPr txBox="1"/>
          <p:nvPr/>
        </p:nvSpPr>
        <p:spPr>
          <a:xfrm>
            <a:off x="811028" y="4395743"/>
            <a:ext cx="6121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r>
              <a:rPr lang="ru-RU" sz="1400" b="1" dirty="0">
                <a:solidFill>
                  <a:srgbClr val="0077C8"/>
                </a:solidFill>
              </a:rPr>
              <a:t>ТЭО эффективности переработки ЖМК </a:t>
            </a:r>
            <a:r>
              <a:rPr lang="en-US" sz="1400" b="1" dirty="0">
                <a:solidFill>
                  <a:srgbClr val="0077C8"/>
                </a:solidFill>
              </a:rPr>
              <a:t>Clarion-</a:t>
            </a:r>
            <a:r>
              <a:rPr lang="en-US" sz="1400" b="1" dirty="0" err="1">
                <a:solidFill>
                  <a:srgbClr val="0077C8"/>
                </a:solidFill>
              </a:rPr>
              <a:t>Clipperton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77C8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 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1609A2-191E-4A9E-8668-229C1C560E6E}"/>
              </a:ext>
            </a:extLst>
          </p:cNvPr>
          <p:cNvSpPr txBox="1"/>
          <p:nvPr/>
        </p:nvSpPr>
        <p:spPr>
          <a:xfrm>
            <a:off x="811028" y="3370802"/>
            <a:ext cx="61211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r>
              <a:rPr lang="ru-RU" sz="1400" b="1" dirty="0">
                <a:solidFill>
                  <a:srgbClr val="0077C8"/>
                </a:solidFill>
              </a:rPr>
              <a:t>Тестирование отдельных операций для уточнения технологических показателей (при необходимости)</a:t>
            </a:r>
            <a:endParaRPr kumimoji="0" lang="ru-RU" sz="1400" b="1" i="0" u="none" strike="noStrike" kern="0" cap="none" spc="0" normalizeH="0" baseline="0" noProof="0" dirty="0">
              <a:ln>
                <a:noFill/>
              </a:ln>
              <a:solidFill>
                <a:srgbClr val="0077C8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74BA5544-0CF7-40F9-B571-4A9BF48ADC88}"/>
              </a:ext>
            </a:extLst>
          </p:cNvPr>
          <p:cNvGrpSpPr/>
          <p:nvPr/>
        </p:nvGrpSpPr>
        <p:grpSpPr>
          <a:xfrm>
            <a:off x="229940" y="4363557"/>
            <a:ext cx="386317" cy="372148"/>
            <a:chOff x="6129430" y="2682735"/>
            <a:chExt cx="648000" cy="64800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5F8BA692-2362-4DE3-86D0-81739AF41F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29430" y="2682735"/>
              <a:ext cx="648000" cy="648000"/>
            </a:xfrm>
            <a:prstGeom prst="ellipse">
              <a:avLst/>
            </a:prstGeom>
            <a:solidFill>
              <a:srgbClr val="0077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D199C2A8-BA7E-46BA-96F9-D351FD53F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33096" y="2790735"/>
              <a:ext cx="432000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2176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48E19B-A9DF-4A35-BAFD-327CCD0FB35A}"/>
              </a:ext>
            </a:extLst>
          </p:cNvPr>
          <p:cNvSpPr txBox="1"/>
          <p:nvPr/>
        </p:nvSpPr>
        <p:spPr>
          <a:xfrm>
            <a:off x="1750484" y="2533162"/>
            <a:ext cx="8443463" cy="7666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ru-RU" sz="2800" b="1" dirty="0">
                <a:solidFill>
                  <a:srgbClr val="0077C8"/>
                </a:solidFill>
              </a:rPr>
              <a:t>Сведения об институте </a:t>
            </a:r>
          </a:p>
        </p:txBody>
      </p:sp>
    </p:spTree>
    <p:extLst>
      <p:ext uri="{BB962C8B-B14F-4D97-AF65-F5344CB8AC3E}">
        <p14:creationId xmlns:p14="http://schemas.microsoft.com/office/powerpoint/2010/main" val="439620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623FF2-07A3-42B6-A957-A82D7599F4FE}"/>
              </a:ext>
            </a:extLst>
          </p:cNvPr>
          <p:cNvSpPr txBox="1"/>
          <p:nvPr/>
        </p:nvSpPr>
        <p:spPr>
          <a:xfrm>
            <a:off x="1849645" y="2347962"/>
            <a:ext cx="7259802" cy="5770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ru-RU" sz="3200" b="1" dirty="0">
                <a:solidFill>
                  <a:srgbClr val="0070C0"/>
                </a:solidFill>
              </a:rPr>
              <a:t>СПАСИБО ЗА ВНИМАНИЕ</a:t>
            </a:r>
          </a:p>
          <a:p>
            <a:r>
              <a:rPr lang="ru-RU" sz="3200" b="1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49884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vestor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>
        <a:solidFill>
          <a:schemeClr val="accent1"/>
        </a:solidFill>
        <a:ln w="19050" cap="flat" cmpd="sng" algn="ctr">
          <a:solidFill>
            <a:schemeClr val="tx2"/>
          </a:solidFill>
          <a:prstDash val="solid"/>
          <a:round/>
          <a:headEnd type="triangl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accent1">
                    <a:gamma/>
                    <a:shade val="60000"/>
                    <a:invGamma/>
                  </a:schemeClr>
                </a:outerShdw>
              </a:effectLst>
            </a14:hiddenEffects>
          </a:ext>
        </a:extLst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u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>
        <a:solidFill>
          <a:schemeClr val="accent1"/>
        </a:solidFill>
        <a:ln w="19050" cap="flat" cmpd="sng" algn="ctr">
          <a:solidFill>
            <a:schemeClr val="tx2"/>
          </a:solidFill>
          <a:prstDash val="solid"/>
          <a:round/>
          <a:headEnd type="triangl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accent1">
                    <a:gamma/>
                    <a:shade val="60000"/>
                    <a:invGamma/>
                  </a:schemeClr>
                </a:outerShdw>
              </a:effectLst>
            </a14:hiddenEffects>
          </a:ext>
        </a:extLst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4C97"/>
      </a:accent1>
      <a:accent2>
        <a:srgbClr val="4D82B6"/>
      </a:accent2>
      <a:accent3>
        <a:srgbClr val="99B7D5"/>
      </a:accent3>
      <a:accent4>
        <a:srgbClr val="CCDBEA"/>
      </a:accent4>
      <a:accent5>
        <a:srgbClr val="0077C8"/>
      </a:accent5>
      <a:accent6>
        <a:srgbClr val="002B55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1F1B1A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1F1B1A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95861</TotalTime>
  <Words>1077</Words>
  <Application>Microsoft Office PowerPoint</Application>
  <PresentationFormat>Произвольный</PresentationFormat>
  <Paragraphs>149</Paragraphs>
  <Slides>27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4" baseType="lpstr">
      <vt:lpstr>Arial</vt:lpstr>
      <vt:lpstr>Calibri</vt:lpstr>
      <vt:lpstr>Tahoma</vt:lpstr>
      <vt:lpstr>Wingdings</vt:lpstr>
      <vt:lpstr>Investors</vt:lpstr>
      <vt:lpstr>Titul</vt:lpstr>
      <vt:lpstr>think-cell Slide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Ермилов Александр</dc:creator>
  <cp:lastModifiedBy>Цымбулов Леонид Борисович</cp:lastModifiedBy>
  <cp:revision>3460</cp:revision>
  <cp:lastPrinted>2023-11-28T07:14:32Z</cp:lastPrinted>
  <dcterms:modified xsi:type="dcterms:W3CDTF">2024-06-16T12:47:10Z</dcterms:modified>
</cp:coreProperties>
</file>